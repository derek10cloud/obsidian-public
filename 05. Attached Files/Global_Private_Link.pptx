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29" r:id="rId2"/>
    <p:sldId id="528" r:id="rId3"/>
    <p:sldId id="382" r:id="rId4"/>
    <p:sldId id="531" r:id="rId5"/>
    <p:sldId id="550" r:id="rId6"/>
    <p:sldId id="529" r:id="rId7"/>
    <p:sldId id="538" r:id="rId8"/>
    <p:sldId id="527" r:id="rId9"/>
    <p:sldId id="540" r:id="rId10"/>
    <p:sldId id="542" r:id="rId11"/>
    <p:sldId id="551" r:id="rId12"/>
    <p:sldId id="552" r:id="rId13"/>
    <p:sldId id="541" r:id="rId14"/>
    <p:sldId id="543" r:id="rId15"/>
    <p:sldId id="545" r:id="rId16"/>
    <p:sldId id="544" r:id="rId17"/>
    <p:sldId id="546" r:id="rId18"/>
    <p:sldId id="549" r:id="rId19"/>
    <p:sldId id="547" r:id="rId20"/>
    <p:sldId id="548" r:id="rId21"/>
    <p:sldId id="364" r:id="rId22"/>
  </p:sldIdLst>
  <p:sldSz cx="12192000" cy="6858000"/>
  <p:notesSz cx="6858000" cy="9144000"/>
  <p:embeddedFontLst>
    <p:embeddedFont>
      <p:font typeface="Amazon Ember" panose="020B0603020204020204" pitchFamily="34" charset="0"/>
      <p:regular r:id="rId25"/>
      <p:bold r:id="rId26"/>
      <p:italic r:id="rId27"/>
      <p:boldItalic r:id="rId28"/>
    </p:embeddedFont>
    <p:embeddedFont>
      <p:font typeface="Amazon Ember Heavy" panose="020B0603020204020204" pitchFamily="34" charset="0"/>
      <p:bold r:id="rId29"/>
      <p:italic r:id="rId30"/>
      <p:boldItalic r:id="rId31"/>
    </p:embeddedFont>
    <p:embeddedFont>
      <p:font typeface="D2Coding" panose="020B0609020101020101" pitchFamily="49" charset="-127"/>
      <p:regular r:id="rId32"/>
      <p:bold r:id="rId33"/>
    </p:embeddedFont>
    <p:embeddedFont>
      <p:font typeface="Lucida Console" panose="020B0609040504020204" pitchFamily="49" charset="0"/>
      <p:regular r:id="rId34"/>
    </p:embeddedFont>
    <p:embeddedFont>
      <p:font typeface="NanumSquareOTF" panose="020B0600000101010101" pitchFamily="34" charset="-127"/>
      <p:regular r:id="rId35"/>
    </p:embeddedFont>
    <p:embeddedFont>
      <p:font typeface="NanumSquareOTF Bold" panose="020B0600000101010101" pitchFamily="34" charset="-127"/>
      <p:bold r:id="rId36"/>
    </p:embeddedFont>
    <p:embeddedFont>
      <p:font typeface="NanumSquareOTF ExtraBold" panose="020B0600000101010101" pitchFamily="34" charset="-127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25896864-DF69-40F5-8CB7-E9E220E900ED}">
          <p14:sldIdLst/>
        </p14:section>
        <p14:section name="Title slide options" id="{8806E88D-7D3F-475C-A6F5-14A5B6CD3EBE}">
          <p14:sldIdLst>
            <p14:sldId id="329"/>
          </p14:sldIdLst>
        </p14:section>
        <p14:section name="Divider slide options" id="{53D029EB-DEEC-436B-98BE-1B30026C68BA}">
          <p14:sldIdLst/>
        </p14:section>
        <p14:section name="Content slides" id="{EC17E99E-D672-4609-B42A-AE99DD1E8900}">
          <p14:sldIdLst>
            <p14:sldId id="528"/>
            <p14:sldId id="382"/>
            <p14:sldId id="531"/>
            <p14:sldId id="550"/>
            <p14:sldId id="529"/>
            <p14:sldId id="538"/>
            <p14:sldId id="527"/>
            <p14:sldId id="540"/>
            <p14:sldId id="542"/>
            <p14:sldId id="551"/>
            <p14:sldId id="552"/>
            <p14:sldId id="541"/>
            <p14:sldId id="543"/>
            <p14:sldId id="545"/>
            <p14:sldId id="544"/>
            <p14:sldId id="546"/>
            <p14:sldId id="549"/>
            <p14:sldId id="547"/>
            <p14:sldId id="548"/>
          </p14:sldIdLst>
        </p14:section>
        <p14:section name="Thank you options" id="{7E98B0BD-72E6-4477-9B70-9A023E279BCE}">
          <p14:sldIdLst>
            <p14:sldId id="364"/>
          </p14:sldIdLst>
        </p14:section>
        <p14:section name="Examples" id="{5052AD04-C0D9-4FF6-AA6F-420659794DEE}">
          <p14:sldIdLst/>
        </p14:section>
        <p14:section name="Template directions" id="{9E4ACA30-D387-48B9-B60B-FCAB7867C6F7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yden, Shannon" initials="DS" lastIdx="1" clrIdx="0">
    <p:extLst>
      <p:ext uri="{19B8F6BF-5375-455C-9EA6-DF929625EA0E}">
        <p15:presenceInfo xmlns:p15="http://schemas.microsoft.com/office/powerpoint/2012/main" userId="S-1-5-21-1407069837-2091007605-538272213-39364416" providerId="AD"/>
      </p:ext>
    </p:extLst>
  </p:cmAuthor>
  <p:cmAuthor id="2" name="Strom, Hilary" initials="SH" lastIdx="1" clrIdx="1">
    <p:extLst>
      <p:ext uri="{19B8F6BF-5375-455C-9EA6-DF929625EA0E}">
        <p15:presenceInfo xmlns:p15="http://schemas.microsoft.com/office/powerpoint/2012/main" userId="S-1-5-21-1407069837-2091007605-538272213-413045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00"/>
    <a:srgbClr val="D32314"/>
    <a:srgbClr val="326CE6"/>
    <a:srgbClr val="000000"/>
    <a:srgbClr val="504BAB"/>
    <a:srgbClr val="000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16" autoAdjust="0"/>
    <p:restoredTop sz="96215" autoAdjust="0"/>
  </p:normalViewPr>
  <p:slideViewPr>
    <p:cSldViewPr snapToGrid="0">
      <p:cViewPr varScale="1">
        <p:scale>
          <a:sx n="219" d="100"/>
          <a:sy n="219" d="100"/>
        </p:scale>
        <p:origin x="1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89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1 - ba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5921CB-B939-1991-AC05-9F4C2AE65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" y="0"/>
            <a:ext cx="12179303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74F9FA-D015-474A-AB83-4D7AE427C6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latin typeface="NanumSquareOTF Bold" panose="020B0600000101010101" pitchFamily="34" charset="-127"/>
                <a:ea typeface="NanumSquareOTF Bold" panose="020B0600000101010101" pitchFamily="34" charset="-127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1" i="0">
                <a:latin typeface="NanumSquareOTF Bold" panose="020B0600000101010101" pitchFamily="34" charset="-127"/>
                <a:ea typeface="NanumSquareOTF Bold" panose="020B0600000101010101" pitchFamily="34" charset="-127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40815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1" i="0" dirty="0">
                <a:solidFill>
                  <a:schemeClr val="tx2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© </a:t>
            </a:r>
            <a:fld id="{A700B085-D1B8-B14C-8D3B-516263D1C318}" type="datetimeyyyy">
              <a:rPr lang="en-US" sz="600" b="1" i="0" smtClean="0">
                <a:solidFill>
                  <a:schemeClr val="tx2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2023</a:t>
            </a:fld>
            <a:r>
              <a:rPr lang="en-US" sz="600" b="1" i="0" dirty="0">
                <a:solidFill>
                  <a:schemeClr val="tx2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Amazon Web Services, Inc. or its affiliates. All rights reserved. Amazon Confidential and Trademark.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B8DE4AC-AB45-8A42-A9DB-9A2F5C33BE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 b="1" i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5D3C39E-991A-7C43-B950-F707ACD43B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BA3B958-952E-054A-A625-3E7C2C8F1C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FFD7BC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</p:spTree>
    <p:extLst>
      <p:ext uri="{BB962C8B-B14F-4D97-AF65-F5344CB8AC3E}">
        <p14:creationId xmlns:p14="http://schemas.microsoft.com/office/powerpoint/2010/main" val="300759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/>
            </a:lvl1pPr>
            <a:lvl2pPr marL="0" indent="0">
              <a:spcAft>
                <a:spcPts val="3000"/>
              </a:spcAft>
              <a:buNone/>
              <a:defRPr sz="2400"/>
            </a:lvl2pPr>
            <a:lvl3pPr marL="0" indent="0">
              <a:spcAft>
                <a:spcPts val="3000"/>
              </a:spcAft>
              <a:buNone/>
              <a:defRPr sz="2400"/>
            </a:lvl3pPr>
            <a:lvl4pPr marL="0" indent="0">
              <a:spcAft>
                <a:spcPts val="3000"/>
              </a:spcAft>
              <a:buNone/>
              <a:defRPr sz="2400"/>
            </a:lvl4pPr>
            <a:lvl5pPr marL="0" indent="0">
              <a:spcAft>
                <a:spcPts val="3000"/>
              </a:spcAft>
              <a:buNone/>
              <a:defRPr sz="2400"/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06056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Color set 1 - ba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34BFF4-2485-9FEB-F104-3A14501D9B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096" cy="68685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</a:t>
            </a:r>
            <a:fld id="{AE83D0B3-0A2F-1E43-B858-5531B7606C20}" type="datetimeyyyy">
              <a:rPr lang="en-US" sz="600" smtClean="0"/>
              <a:t>2023</a:t>
            </a:fld>
            <a:r>
              <a:rPr lang="en-US" sz="600" dirty="0"/>
              <a:t>, Amazon Web Services, Inc. or its affiliates. All rights reserved. Amazon Confidential and Trademark.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1CAE95-5DCF-4586-87BE-3A8F905DE3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80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AFA98-7BE3-48BD-9D56-EE4F5EEB238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4229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10858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4038599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0"/>
            <a:ext cx="5372100" cy="4495799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4495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395830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11844-EDC2-4BBC-9655-791EDDE7A288}"/>
              </a:ext>
            </a:extLst>
          </p:cNvPr>
          <p:cNvSpPr/>
          <p:nvPr userDrawn="1"/>
        </p:nvSpPr>
        <p:spPr>
          <a:xfrm>
            <a:off x="0" y="1682496"/>
            <a:ext cx="12192000" cy="42428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2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4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95221"/>
            <a:ext cx="8067261" cy="1900504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4150" y="3274218"/>
            <a:ext cx="309563" cy="30956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1 - ba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DD6B30-A3EF-95F5-51E7-16B675547E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" y="0"/>
            <a:ext cx="12185650" cy="6861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</a:t>
            </a:r>
            <a:fld id="{59189A9A-3407-1149-A0CD-28571AF57C0B}" type="datetimeyyyy">
              <a:rPr lang="en-US" sz="600" smtClean="0"/>
              <a:t>2023</a:t>
            </a:fld>
            <a:r>
              <a:rPr lang="en-US" sz="600" dirty="0"/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5E28A0-3B8E-4865-89EE-429105F735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7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1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</p:spPr>
        <p:txBody>
          <a:bodyPr/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latin typeface="+mj-l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76675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</p:spPr>
        <p:txBody>
          <a:bodyPr anchor="ctr" anchorCtr="0"/>
          <a:lstStyle>
            <a:lvl1pPr>
              <a:defRPr sz="4400"/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28746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미디어를 추가하려면 아이콘을 클릭하십시오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2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35531"/>
          </a:xfrm>
        </p:spPr>
        <p:txBody>
          <a:bodyPr anchor="t" anchorCtr="0"/>
          <a:lstStyle>
            <a:lvl1pPr>
              <a:defRPr sz="40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4484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448468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385405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E488766-D546-4AE2-8DD5-211B4D6982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11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911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8699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9671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1 - ba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BCF13-2506-FEC0-CDFF-3D14579DC9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" y="0"/>
            <a:ext cx="12185650" cy="68615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488766-D546-4AE2-8DD5-211B4D698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11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911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8699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4B491-619F-403A-8310-1D29C8690797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</a:rPr>
              <a:t>© </a:t>
            </a:r>
            <a:fld id="{C6CAA194-B35A-414F-9ABD-F93CA819E552}" type="datetimeyyyy">
              <a:rPr lang="en-US" sz="600" smtClean="0">
                <a:solidFill>
                  <a:schemeClr val="tx1"/>
                </a:solidFill>
              </a:rPr>
              <a:t>2023</a:t>
            </a:fld>
            <a:r>
              <a:rPr lang="en-US" sz="60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2207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91117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B08AA2C-B509-4BA9-B3D5-46E288298CE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i="0" dirty="0"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SaaS </a:t>
            </a:r>
            <a:r>
              <a:rPr lang="en-US" sz="1050" b="1" i="0" dirty="0" err="1"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비용</a:t>
            </a:r>
            <a:r>
              <a:rPr lang="en-US" sz="1050" b="1" i="0" dirty="0"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en-US" sz="1050" b="1" i="0" dirty="0" err="1"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절감을</a:t>
            </a:r>
            <a:r>
              <a:rPr lang="en-US" sz="1050" b="1" i="0" dirty="0"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en-US" sz="1050" b="1" i="0" dirty="0" err="1"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위한</a:t>
            </a:r>
            <a:r>
              <a:rPr lang="en-US" sz="1050" b="1" i="0" dirty="0"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VPC Endpoint </a:t>
            </a:r>
            <a:r>
              <a:rPr lang="en-US" sz="1050" b="1" i="0" dirty="0" err="1"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디자인</a:t>
            </a:r>
            <a:endParaRPr lang="en-US" sz="1050" b="1" i="0" dirty="0"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1CF42-1C9C-47C2-AE41-78BE145251DB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</a:t>
            </a:r>
            <a:fld id="{D92C1840-24C3-7243-BACE-05F0D6812AEA}" type="datetimeyyyy">
              <a:rPr lang="en-US" sz="600" smtClean="0"/>
              <a:t>2023</a:t>
            </a:fld>
            <a:r>
              <a:rPr lang="en-US" sz="600" dirty="0"/>
              <a:t>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4F7D2-009A-40A3-9C6D-5D576E0365C6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661" r:id="rId2"/>
    <p:sldLayoutId id="2147483654" r:id="rId3"/>
    <p:sldLayoutId id="2147483739" r:id="rId4"/>
    <p:sldLayoutId id="2147483663" r:id="rId5"/>
    <p:sldLayoutId id="2147483655" r:id="rId6"/>
    <p:sldLayoutId id="2147483650" r:id="rId7"/>
    <p:sldLayoutId id="2147483664" r:id="rId8"/>
    <p:sldLayoutId id="2147483666" r:id="rId9"/>
    <p:sldLayoutId id="2147483667" r:id="rId10"/>
    <p:sldLayoutId id="2147483665" r:id="rId11"/>
    <p:sldLayoutId id="2147483668" r:id="rId12"/>
    <p:sldLayoutId id="2147483653" r:id="rId13"/>
    <p:sldLayoutId id="2147483689" r:id="rId14"/>
    <p:sldLayoutId id="2147483691" r:id="rId15"/>
    <p:sldLayoutId id="2147483690" r:id="rId16"/>
    <p:sldLayoutId id="2147483657" r:id="rId17"/>
    <p:sldLayoutId id="2147483692" r:id="rId18"/>
    <p:sldLayoutId id="2147483694" r:id="rId19"/>
    <p:sldLayoutId id="2147483693" r:id="rId20"/>
    <p:sldLayoutId id="2147483652" r:id="rId21"/>
    <p:sldLayoutId id="2147483669" r:id="rId22"/>
    <p:sldLayoutId id="2147483670" r:id="rId23"/>
    <p:sldLayoutId id="2147483673" r:id="rId24"/>
    <p:sldLayoutId id="2147483758" r:id="rId25"/>
    <p:sldLayoutId id="2147483671" r:id="rId26"/>
    <p:sldLayoutId id="2147483672" r:id="rId27"/>
    <p:sldLayoutId id="2147483695" r:id="rId28"/>
    <p:sldLayoutId id="2147483674" r:id="rId29"/>
    <p:sldLayoutId id="2147483675" r:id="rId30"/>
    <p:sldLayoutId id="2147483656" r:id="rId31"/>
    <p:sldLayoutId id="2147483676" r:id="rId32"/>
    <p:sldLayoutId id="2147483777" r:id="rId3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b="1" i="0" kern="1200" baseline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n-cs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b="1" i="0" kern="1200" baseline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n-cs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b="1" i="0" kern="1200" baseline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n-cs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b="1" i="0" kern="1200" baseline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n-cs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b="1" i="0" kern="1200" baseline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5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4.png"/><Relationship Id="rId2" Type="http://schemas.openxmlformats.org/officeDocument/2006/relationships/image" Target="../media/image7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5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4.png"/><Relationship Id="rId2" Type="http://schemas.openxmlformats.org/officeDocument/2006/relationships/image" Target="../media/image7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809C56-2BF6-2E76-945D-784119943B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최 우 형 </a:t>
            </a:r>
            <a:r>
              <a:rPr lang="en-US" altLang="ko-KR" dirty="0"/>
              <a:t>(whchoi@amazon.com)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6A32A6-8941-2963-8AEB-2219257A7C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575414"/>
          </a:xfrm>
        </p:spPr>
        <p:txBody>
          <a:bodyPr/>
          <a:lstStyle/>
          <a:p>
            <a:r>
              <a:rPr lang="en-US" dirty="0"/>
              <a:t>Principal Solutions Architect</a:t>
            </a:r>
          </a:p>
          <a:p>
            <a:r>
              <a:rPr lang="en-US" dirty="0"/>
              <a:t>AWS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24E8656-4B27-A1D7-1729-49DD4EA51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7" y="2126159"/>
            <a:ext cx="10890327" cy="952248"/>
          </a:xfrm>
        </p:spPr>
        <p:txBody>
          <a:bodyPr/>
          <a:lstStyle/>
          <a:p>
            <a:r>
              <a:rPr lang="en-US" altLang="ko-KR" dirty="0"/>
              <a:t>SaaS </a:t>
            </a:r>
            <a:r>
              <a:rPr lang="ko-KR" altLang="en-US" dirty="0"/>
              <a:t>전송비용 절감을 위한 아키텍쳐</a:t>
            </a:r>
            <a:br>
              <a:rPr lang="en-US" altLang="ko-KR" dirty="0"/>
            </a:br>
            <a:r>
              <a:rPr lang="en-US" altLang="ko-KR" sz="1400" dirty="0">
                <a:solidFill>
                  <a:srgbClr val="FF8500"/>
                </a:solidFill>
              </a:rPr>
              <a:t>Version : 1.0 / Update : Oct. 2023</a:t>
            </a:r>
            <a:endParaRPr lang="en-US" dirty="0">
              <a:solidFill>
                <a:srgbClr val="FF8500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2C243C-B309-1B6D-F506-41620D89F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24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9D839-B6D7-839E-9310-4A99D343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SaaS </a:t>
            </a:r>
            <a:r>
              <a:rPr kumimoji="1" lang="ko-Kore-KR" altLang="en-US" dirty="0"/>
              <a:t>기반의 데이터 전송 비용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6154AC-EB94-77B4-C422-5209F377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3C28576-7F47-B258-6861-3AEDD4602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344176"/>
              </p:ext>
            </p:extLst>
          </p:nvPr>
        </p:nvGraphicFramePr>
        <p:xfrm>
          <a:off x="609600" y="1141587"/>
          <a:ext cx="11062800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8209">
                  <a:extLst>
                    <a:ext uri="{9D8B030D-6E8A-4147-A177-3AD203B41FA5}">
                      <a16:colId xmlns:a16="http://schemas.microsoft.com/office/drawing/2014/main" val="933219830"/>
                    </a:ext>
                  </a:extLst>
                </a:gridCol>
                <a:gridCol w="1088521">
                  <a:extLst>
                    <a:ext uri="{9D8B030D-6E8A-4147-A177-3AD203B41FA5}">
                      <a16:colId xmlns:a16="http://schemas.microsoft.com/office/drawing/2014/main" val="2506507505"/>
                    </a:ext>
                  </a:extLst>
                </a:gridCol>
                <a:gridCol w="1695385">
                  <a:extLst>
                    <a:ext uri="{9D8B030D-6E8A-4147-A177-3AD203B41FA5}">
                      <a16:colId xmlns:a16="http://schemas.microsoft.com/office/drawing/2014/main" val="3697632298"/>
                    </a:ext>
                  </a:extLst>
                </a:gridCol>
                <a:gridCol w="1818887">
                  <a:extLst>
                    <a:ext uri="{9D8B030D-6E8A-4147-A177-3AD203B41FA5}">
                      <a16:colId xmlns:a16="http://schemas.microsoft.com/office/drawing/2014/main" val="345619546"/>
                    </a:ext>
                  </a:extLst>
                </a:gridCol>
                <a:gridCol w="1794387">
                  <a:extLst>
                    <a:ext uri="{9D8B030D-6E8A-4147-A177-3AD203B41FA5}">
                      <a16:colId xmlns:a16="http://schemas.microsoft.com/office/drawing/2014/main" val="564671990"/>
                    </a:ext>
                  </a:extLst>
                </a:gridCol>
                <a:gridCol w="1332343">
                  <a:extLst>
                    <a:ext uri="{9D8B030D-6E8A-4147-A177-3AD203B41FA5}">
                      <a16:colId xmlns:a16="http://schemas.microsoft.com/office/drawing/2014/main" val="3070952572"/>
                    </a:ext>
                  </a:extLst>
                </a:gridCol>
                <a:gridCol w="1295068">
                  <a:extLst>
                    <a:ext uri="{9D8B030D-6E8A-4147-A177-3AD203B41FA5}">
                      <a16:colId xmlns:a16="http://schemas.microsoft.com/office/drawing/2014/main" val="1678659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전송 리전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전송 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전송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전송 요금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수신 리전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전체 요금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64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AP-NORTHEAST-2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IGW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10TB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0.126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AP-SOUTH-1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</a:t>
                      </a: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1260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Polaris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68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AP-NORTHEAST-2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IGW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10TB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0.126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AP-NORTHEAST-1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</a:t>
                      </a: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1260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Sumologic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1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AP-NORTHEAST-2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IGW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10TB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0.126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US-EAST-1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</a:t>
                      </a: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1260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Datadog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54297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05B3AA4-E8B4-D53C-DF4A-9EDFB6414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866046"/>
              </p:ext>
            </p:extLst>
          </p:nvPr>
        </p:nvGraphicFramePr>
        <p:xfrm>
          <a:off x="609600" y="2853903"/>
          <a:ext cx="11062799" cy="1742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66967">
                  <a:extLst>
                    <a:ext uri="{9D8B030D-6E8A-4147-A177-3AD203B41FA5}">
                      <a16:colId xmlns:a16="http://schemas.microsoft.com/office/drawing/2014/main" val="933219830"/>
                    </a:ext>
                  </a:extLst>
                </a:gridCol>
                <a:gridCol w="1396356">
                  <a:extLst>
                    <a:ext uri="{9D8B030D-6E8A-4147-A177-3AD203B41FA5}">
                      <a16:colId xmlns:a16="http://schemas.microsoft.com/office/drawing/2014/main" val="3697632298"/>
                    </a:ext>
                  </a:extLst>
                </a:gridCol>
                <a:gridCol w="1491160">
                  <a:extLst>
                    <a:ext uri="{9D8B030D-6E8A-4147-A177-3AD203B41FA5}">
                      <a16:colId xmlns:a16="http://schemas.microsoft.com/office/drawing/2014/main" val="345619546"/>
                    </a:ext>
                  </a:extLst>
                </a:gridCol>
                <a:gridCol w="1676179">
                  <a:extLst>
                    <a:ext uri="{9D8B030D-6E8A-4147-A177-3AD203B41FA5}">
                      <a16:colId xmlns:a16="http://schemas.microsoft.com/office/drawing/2014/main" val="564671990"/>
                    </a:ext>
                  </a:extLst>
                </a:gridCol>
                <a:gridCol w="848460">
                  <a:extLst>
                    <a:ext uri="{9D8B030D-6E8A-4147-A177-3AD203B41FA5}">
                      <a16:colId xmlns:a16="http://schemas.microsoft.com/office/drawing/2014/main" val="1303737438"/>
                    </a:ext>
                  </a:extLst>
                </a:gridCol>
                <a:gridCol w="1386585">
                  <a:extLst>
                    <a:ext uri="{9D8B030D-6E8A-4147-A177-3AD203B41FA5}">
                      <a16:colId xmlns:a16="http://schemas.microsoft.com/office/drawing/2014/main" val="4293106591"/>
                    </a:ext>
                  </a:extLst>
                </a:gridCol>
                <a:gridCol w="1298546">
                  <a:extLst>
                    <a:ext uri="{9D8B030D-6E8A-4147-A177-3AD203B41FA5}">
                      <a16:colId xmlns:a16="http://schemas.microsoft.com/office/drawing/2014/main" val="3070952572"/>
                    </a:ext>
                  </a:extLst>
                </a:gridCol>
                <a:gridCol w="1298546">
                  <a:extLst>
                    <a:ext uri="{9D8B030D-6E8A-4147-A177-3AD203B41FA5}">
                      <a16:colId xmlns:a16="http://schemas.microsoft.com/office/drawing/2014/main" val="1678659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전송 리전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전송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전송 요금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수신 리전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전송위치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처리 과금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전체 요금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64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AP-NORTHEAST-2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10TB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0.08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AP-SOUTH-1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</a:p>
                    <a:p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VPCE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.02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.01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</a:t>
                      </a: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</a:t>
                      </a:r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100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Polaris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68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AP-NORTHEAST-2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10TB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0.08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AP-NORTHEAST-1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VPCE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.02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.01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</a:t>
                      </a: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</a:t>
                      </a:r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100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Sumologic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1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AP-NORTHEAST-2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10TB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0.08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US-EAST-1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VPCE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.02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.01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</a:t>
                      </a: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</a:t>
                      </a:r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100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Datadog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54297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325838A-52D7-4528-E2FC-73B48FC7C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133872"/>
              </p:ext>
            </p:extLst>
          </p:nvPr>
        </p:nvGraphicFramePr>
        <p:xfrm>
          <a:off x="609600" y="4745194"/>
          <a:ext cx="11062799" cy="16459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66967">
                  <a:extLst>
                    <a:ext uri="{9D8B030D-6E8A-4147-A177-3AD203B41FA5}">
                      <a16:colId xmlns:a16="http://schemas.microsoft.com/office/drawing/2014/main" val="933219830"/>
                    </a:ext>
                  </a:extLst>
                </a:gridCol>
                <a:gridCol w="1396356">
                  <a:extLst>
                    <a:ext uri="{9D8B030D-6E8A-4147-A177-3AD203B41FA5}">
                      <a16:colId xmlns:a16="http://schemas.microsoft.com/office/drawing/2014/main" val="3697632298"/>
                    </a:ext>
                  </a:extLst>
                </a:gridCol>
                <a:gridCol w="1491160">
                  <a:extLst>
                    <a:ext uri="{9D8B030D-6E8A-4147-A177-3AD203B41FA5}">
                      <a16:colId xmlns:a16="http://schemas.microsoft.com/office/drawing/2014/main" val="345619546"/>
                    </a:ext>
                  </a:extLst>
                </a:gridCol>
                <a:gridCol w="1676179">
                  <a:extLst>
                    <a:ext uri="{9D8B030D-6E8A-4147-A177-3AD203B41FA5}">
                      <a16:colId xmlns:a16="http://schemas.microsoft.com/office/drawing/2014/main" val="564671990"/>
                    </a:ext>
                  </a:extLst>
                </a:gridCol>
                <a:gridCol w="848460">
                  <a:extLst>
                    <a:ext uri="{9D8B030D-6E8A-4147-A177-3AD203B41FA5}">
                      <a16:colId xmlns:a16="http://schemas.microsoft.com/office/drawing/2014/main" val="1303737438"/>
                    </a:ext>
                  </a:extLst>
                </a:gridCol>
                <a:gridCol w="1386585">
                  <a:extLst>
                    <a:ext uri="{9D8B030D-6E8A-4147-A177-3AD203B41FA5}">
                      <a16:colId xmlns:a16="http://schemas.microsoft.com/office/drawing/2014/main" val="4293106591"/>
                    </a:ext>
                  </a:extLst>
                </a:gridCol>
                <a:gridCol w="1298546">
                  <a:extLst>
                    <a:ext uri="{9D8B030D-6E8A-4147-A177-3AD203B41FA5}">
                      <a16:colId xmlns:a16="http://schemas.microsoft.com/office/drawing/2014/main" val="3070952572"/>
                    </a:ext>
                  </a:extLst>
                </a:gridCol>
                <a:gridCol w="1298546">
                  <a:extLst>
                    <a:ext uri="{9D8B030D-6E8A-4147-A177-3AD203B41FA5}">
                      <a16:colId xmlns:a16="http://schemas.microsoft.com/office/drawing/2014/main" val="1678659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전송 리전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전송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전송 요금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수신 리전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전송위치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 처리 과금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전체 요금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64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AP-NORTHEAST-2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10TB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0.08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AP-SOUTH-1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Peering</a:t>
                      </a:r>
                    </a:p>
                    <a:p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VPCE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.00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.01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</a:t>
                      </a: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900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Polaris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68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AP-NORTHEAST-2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10TB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0.08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AP-NORTHEAST-1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Peering</a:t>
                      </a:r>
                    </a:p>
                    <a:p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VPCE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.00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.01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</a:t>
                      </a: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900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Sumologic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1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AP-NORTHEAST-2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10TB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0.08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US-EAST-1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Peering</a:t>
                      </a:r>
                    </a:p>
                    <a:p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VPCE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.00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  <a:r>
                        <a:rPr lang="ko-Kore-KR" altLang="en-US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당 </a:t>
                      </a:r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</a:t>
                      </a:r>
                      <a:r>
                        <a:rPr lang="en-US" altLang="ko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.01 USD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</a:t>
                      </a:r>
                      <a:r>
                        <a:rPr lang="en-US" altLang="ko-Kore-KR" sz="1200" b="1" i="0" dirty="0">
                          <a:solidFill>
                            <a:srgbClr val="FF8500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900</a:t>
                      </a:r>
                      <a:endParaRPr lang="ko-Kore-KR" altLang="en-US" sz="1200" b="1" i="0" dirty="0">
                        <a:solidFill>
                          <a:srgbClr val="FF8500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Datadog</a:t>
                      </a:r>
                      <a:endParaRPr lang="ko-Kore-KR" altLang="en-US" sz="12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542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56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F5C8B7-B3D5-EB99-AD61-8CAC43471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SaaS </a:t>
            </a:r>
            <a:r>
              <a:rPr lang="en-US" dirty="0" err="1"/>
              <a:t>전송</a:t>
            </a:r>
            <a:r>
              <a:rPr lang="en-US" dirty="0"/>
              <a:t> </a:t>
            </a:r>
            <a:r>
              <a:rPr lang="en-US" dirty="0" err="1"/>
              <a:t>비용</a:t>
            </a:r>
            <a:r>
              <a:rPr lang="en-US" dirty="0"/>
              <a:t> </a:t>
            </a:r>
            <a:r>
              <a:rPr lang="en-US" dirty="0" err="1"/>
              <a:t>절감을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VPC Endpoint </a:t>
            </a:r>
            <a:r>
              <a:rPr lang="en-US" dirty="0" err="1"/>
              <a:t>디자인</a:t>
            </a:r>
            <a:r>
              <a:rPr lang="en-US" dirty="0"/>
              <a:t> </a:t>
            </a:r>
            <a:r>
              <a:rPr lang="en-US" dirty="0" err="1"/>
              <a:t>구성</a:t>
            </a:r>
            <a:r>
              <a:rPr lang="en-US" dirty="0"/>
              <a:t> </a:t>
            </a:r>
            <a:r>
              <a:rPr lang="en-US" dirty="0" err="1"/>
              <a:t>순서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60E5E-32F7-6F41-8516-27866116E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7304816-B2A2-4E61-4648-7458F5F4CFA7}"/>
              </a:ext>
            </a:extLst>
          </p:cNvPr>
          <p:cNvSpPr/>
          <p:nvPr/>
        </p:nvSpPr>
        <p:spPr>
          <a:xfrm>
            <a:off x="609600" y="1316183"/>
            <a:ext cx="2937164" cy="436418"/>
          </a:xfrm>
          <a:prstGeom prst="roundRect">
            <a:avLst>
              <a:gd name="adj" fmla="val 736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r>
              <a:rPr kumimoji="1" lang="en-US" altLang="ko-KR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1.VPC Endpoint Service </a:t>
            </a:r>
            <a:r>
              <a:rPr kumimoji="1" lang="ko-KR" altLang="en-US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  <a:endParaRPr kumimoji="1" lang="ko-Kore-KR" altLang="en-US" sz="14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49A8AB6-513D-5A54-A485-908D2B9A5CD0}"/>
              </a:ext>
            </a:extLst>
          </p:cNvPr>
          <p:cNvSpPr/>
          <p:nvPr/>
        </p:nvSpPr>
        <p:spPr>
          <a:xfrm>
            <a:off x="609600" y="2024150"/>
            <a:ext cx="2937164" cy="436418"/>
          </a:xfrm>
          <a:prstGeom prst="roundRect">
            <a:avLst>
              <a:gd name="adj" fmla="val 736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r>
              <a:rPr kumimoji="1" lang="en-US" altLang="ko-KR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2.VPC Endpoint </a:t>
            </a:r>
            <a:r>
              <a:rPr kumimoji="1" lang="ko-Kore-KR" altLang="en-US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57F8C60-E1DD-E97B-314C-505F938D9D30}"/>
              </a:ext>
            </a:extLst>
          </p:cNvPr>
          <p:cNvSpPr/>
          <p:nvPr/>
        </p:nvSpPr>
        <p:spPr>
          <a:xfrm>
            <a:off x="609600" y="2732117"/>
            <a:ext cx="2937164" cy="436418"/>
          </a:xfrm>
          <a:prstGeom prst="roundRect">
            <a:avLst>
              <a:gd name="adj" fmla="val 736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r>
              <a:rPr kumimoji="1" lang="en-US" altLang="ko-KR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3.VPC Peering/TGW </a:t>
            </a:r>
            <a:r>
              <a:rPr kumimoji="1" lang="ko-Kore-KR" altLang="en-US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67A61BE-1D9E-C470-557F-DF23F0A08051}"/>
              </a:ext>
            </a:extLst>
          </p:cNvPr>
          <p:cNvSpPr/>
          <p:nvPr/>
        </p:nvSpPr>
        <p:spPr>
          <a:xfrm>
            <a:off x="609600" y="3440084"/>
            <a:ext cx="2937164" cy="436418"/>
          </a:xfrm>
          <a:prstGeom prst="roundRect">
            <a:avLst>
              <a:gd name="adj" fmla="val 736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r>
              <a:rPr kumimoji="1" lang="en-US" altLang="ko-KR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4.Private Host Zone </a:t>
            </a:r>
            <a:r>
              <a:rPr kumimoji="1" lang="ko-KR" altLang="en-US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  <a:r>
              <a:rPr kumimoji="1" lang="en-US" altLang="ko-KR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(Owner)</a:t>
            </a:r>
            <a:endParaRPr kumimoji="1" lang="ko-Kore-KR" altLang="en-US" sz="14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BCCEFD7-7498-6E3D-810E-9A28ECA474CB}"/>
              </a:ext>
            </a:extLst>
          </p:cNvPr>
          <p:cNvSpPr/>
          <p:nvPr/>
        </p:nvSpPr>
        <p:spPr>
          <a:xfrm>
            <a:off x="609600" y="4148051"/>
            <a:ext cx="2937164" cy="436418"/>
          </a:xfrm>
          <a:prstGeom prst="roundRect">
            <a:avLst>
              <a:gd name="adj" fmla="val 736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r>
              <a:rPr kumimoji="1" lang="en-US" altLang="ko-KR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5.Private Host Zone </a:t>
            </a:r>
            <a:r>
              <a:rPr kumimoji="1" lang="ko-KR" altLang="en-US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 </a:t>
            </a:r>
            <a:r>
              <a:rPr kumimoji="1" lang="en-US" altLang="ko-KR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(Guest)</a:t>
            </a:r>
            <a:endParaRPr kumimoji="1" lang="ko-Kore-KR" altLang="en-US" sz="14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EE9C276-DB00-BED1-3ADF-A3B64BE0652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078182" y="1752601"/>
            <a:ext cx="0" cy="271549"/>
          </a:xfrm>
          <a:prstGeom prst="straightConnector1">
            <a:avLst/>
          </a:prstGeom>
          <a:ln w="38100" cap="rnd">
            <a:solidFill>
              <a:srgbClr val="FF85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1AC7509-8262-BA70-5017-342C309F2D29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2078182" y="2460568"/>
            <a:ext cx="0" cy="271549"/>
          </a:xfrm>
          <a:prstGeom prst="straightConnector1">
            <a:avLst/>
          </a:prstGeom>
          <a:ln w="38100" cap="rnd">
            <a:solidFill>
              <a:srgbClr val="FF85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2BFBF1E-F2E2-4499-828A-5368FDBA72E5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2078182" y="3168535"/>
            <a:ext cx="0" cy="271549"/>
          </a:xfrm>
          <a:prstGeom prst="straightConnector1">
            <a:avLst/>
          </a:prstGeom>
          <a:ln w="38100" cap="rnd">
            <a:solidFill>
              <a:srgbClr val="FF85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B6FD855-B4F4-5933-BA2B-28F41C423121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2078182" y="3876502"/>
            <a:ext cx="0" cy="271549"/>
          </a:xfrm>
          <a:prstGeom prst="straightConnector1">
            <a:avLst/>
          </a:prstGeom>
          <a:ln w="38100" cap="rnd">
            <a:solidFill>
              <a:srgbClr val="FF85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9D058C9-927C-9BF6-BFA4-DE570467931A}"/>
              </a:ext>
            </a:extLst>
          </p:cNvPr>
          <p:cNvSpPr txBox="1"/>
          <p:nvPr/>
        </p:nvSpPr>
        <p:spPr>
          <a:xfrm>
            <a:off x="3416744" y="1266626"/>
            <a:ext cx="8255656" cy="535531"/>
          </a:xfrm>
          <a:prstGeom prst="rect">
            <a:avLst/>
          </a:prstGeom>
          <a:noFill/>
          <a:ln>
            <a:solidFill>
              <a:srgbClr val="FF8500"/>
            </a:solidFill>
          </a:ln>
        </p:spPr>
        <p:txBody>
          <a:bodyPr wrap="square" lIns="46800" tIns="46800" rIns="46800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endParaRPr kumimoji="1" lang="en-US" altLang="ko-Kore-KR" sz="1400" dirty="0">
              <a:latin typeface="NanumSquareOTF" panose="020B0600000101010101" pitchFamily="34" charset="-127"/>
              <a:ea typeface="NanumSquareOTF" panose="020B0600000101010101" pitchFamily="34" charset="-127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C560F3-4994-3F81-B26D-5ABCEA2A1A69}"/>
              </a:ext>
            </a:extLst>
          </p:cNvPr>
          <p:cNvSpPr txBox="1"/>
          <p:nvPr/>
        </p:nvSpPr>
        <p:spPr>
          <a:xfrm>
            <a:off x="3416744" y="1996440"/>
            <a:ext cx="8255656" cy="535531"/>
          </a:xfrm>
          <a:prstGeom prst="rect">
            <a:avLst/>
          </a:prstGeom>
          <a:noFill/>
          <a:ln>
            <a:solidFill>
              <a:srgbClr val="FF8500"/>
            </a:solidFill>
          </a:ln>
        </p:spPr>
        <p:txBody>
          <a:bodyPr wrap="square" lIns="46800" tIns="46800" rIns="46800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endParaRPr kumimoji="1" lang="en-US" altLang="ko-Kore-KR" sz="1400" dirty="0">
              <a:latin typeface="NanumSquareOTF" panose="020B0600000101010101" pitchFamily="34" charset="-127"/>
              <a:ea typeface="NanumSquareOTF" panose="020B0600000101010101" pitchFamily="34" charset="-127"/>
              <a:cs typeface="Calibri" panose="020F050202020403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2E0A0A-312C-CFD5-5EA0-233445EE7FD8}"/>
              </a:ext>
            </a:extLst>
          </p:cNvPr>
          <p:cNvSpPr txBox="1"/>
          <p:nvPr/>
        </p:nvSpPr>
        <p:spPr>
          <a:xfrm>
            <a:off x="3416744" y="2682561"/>
            <a:ext cx="8255656" cy="535531"/>
          </a:xfrm>
          <a:prstGeom prst="rect">
            <a:avLst/>
          </a:prstGeom>
          <a:noFill/>
          <a:ln>
            <a:solidFill>
              <a:srgbClr val="FF8500"/>
            </a:solidFill>
          </a:ln>
        </p:spPr>
        <p:txBody>
          <a:bodyPr wrap="square" lIns="46800" tIns="46800" rIns="46800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endParaRPr kumimoji="1" lang="en-US" altLang="ko-Kore-KR" sz="1400" dirty="0">
              <a:latin typeface="NanumSquareOTF" panose="020B0600000101010101" pitchFamily="34" charset="-127"/>
              <a:ea typeface="NanumSquareOTF" panose="020B0600000101010101" pitchFamily="34" charset="-127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72B7CC-70E3-0557-CAC5-A823DC6D9597}"/>
              </a:ext>
            </a:extLst>
          </p:cNvPr>
          <p:cNvSpPr txBox="1"/>
          <p:nvPr/>
        </p:nvSpPr>
        <p:spPr>
          <a:xfrm>
            <a:off x="3416744" y="3385731"/>
            <a:ext cx="8255656" cy="535531"/>
          </a:xfrm>
          <a:prstGeom prst="rect">
            <a:avLst/>
          </a:prstGeom>
          <a:noFill/>
          <a:ln>
            <a:solidFill>
              <a:srgbClr val="FF8500"/>
            </a:solidFill>
          </a:ln>
        </p:spPr>
        <p:txBody>
          <a:bodyPr wrap="square" lIns="46800" tIns="46800" rIns="46800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endParaRPr kumimoji="1" lang="en-US" altLang="ko-Kore-KR" sz="1400" dirty="0">
              <a:latin typeface="NanumSquareOTF" panose="020B0600000101010101" pitchFamily="34" charset="-127"/>
              <a:ea typeface="NanumSquareOTF" panose="020B0600000101010101" pitchFamily="34" charset="-127"/>
              <a:cs typeface="Calibri" panose="020F05020202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5F5593-C59A-10CE-E572-4674C21F75A5}"/>
              </a:ext>
            </a:extLst>
          </p:cNvPr>
          <p:cNvSpPr txBox="1"/>
          <p:nvPr/>
        </p:nvSpPr>
        <p:spPr>
          <a:xfrm>
            <a:off x="3416744" y="4098494"/>
            <a:ext cx="8255656" cy="535531"/>
          </a:xfrm>
          <a:prstGeom prst="rect">
            <a:avLst/>
          </a:prstGeom>
          <a:noFill/>
          <a:ln>
            <a:solidFill>
              <a:srgbClr val="FF8500"/>
            </a:solidFill>
          </a:ln>
        </p:spPr>
        <p:txBody>
          <a:bodyPr wrap="square" lIns="46800" tIns="46800" rIns="46800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endParaRPr kumimoji="1" lang="en-US" altLang="ko-Kore-KR" sz="1400" dirty="0">
              <a:latin typeface="NanumSquareOTF" panose="020B0600000101010101" pitchFamily="34" charset="-127"/>
              <a:ea typeface="NanumSquareOTF" panose="020B0600000101010101" pitchFamily="34" charset="-127"/>
              <a:cs typeface="Calibri" panose="020F05020202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D698D5-56B3-8581-83DD-000260DED574}"/>
              </a:ext>
            </a:extLst>
          </p:cNvPr>
          <p:cNvSpPr txBox="1"/>
          <p:nvPr/>
        </p:nvSpPr>
        <p:spPr>
          <a:xfrm>
            <a:off x="3703426" y="2088470"/>
            <a:ext cx="5976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Consumer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구성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/ SaaS Provider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제공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옵션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)</a:t>
            </a:r>
            <a:endParaRPr lang="en-US" altLang="ko-Kore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A17F24-131F-E6DE-8FD2-53455696A541}"/>
              </a:ext>
            </a:extLst>
          </p:cNvPr>
          <p:cNvSpPr txBox="1"/>
          <p:nvPr/>
        </p:nvSpPr>
        <p:spPr>
          <a:xfrm>
            <a:off x="3703426" y="1380502"/>
            <a:ext cx="6325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Provider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Service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를 구성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/ SaaS Provider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가 제공</a:t>
            </a:r>
            <a:endParaRPr lang="en-US" altLang="ko-Kore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F5C6F3-4361-7584-B87C-E24B0B3C2EB7}"/>
              </a:ext>
            </a:extLst>
          </p:cNvPr>
          <p:cNvSpPr txBox="1"/>
          <p:nvPr/>
        </p:nvSpPr>
        <p:spPr>
          <a:xfrm>
            <a:off x="3703426" y="2796437"/>
            <a:ext cx="7100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US-EAST-1, AP-NORTHEAST-1, AP-SOUTH-1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등의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리전에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</a:t>
            </a:r>
            <a:endParaRPr lang="en-US" altLang="ko-Kore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8F9B24-12BB-2C7F-AA77-EB46AE62D969}"/>
              </a:ext>
            </a:extLst>
          </p:cNvPr>
          <p:cNvSpPr txBox="1"/>
          <p:nvPr/>
        </p:nvSpPr>
        <p:spPr>
          <a:xfrm>
            <a:off x="3703425" y="3499607"/>
            <a:ext cx="7678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Provider 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리전에서 생성된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Host Zone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을 생성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(Create-</a:t>
            </a:r>
            <a:r>
              <a:rPr lang="en-US" altLang="ko-Kore-KR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-association-auth)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C78B97-756D-9D1F-376E-E319B1338D24}"/>
              </a:ext>
            </a:extLst>
          </p:cNvPr>
          <p:cNvSpPr txBox="1"/>
          <p:nvPr/>
        </p:nvSpPr>
        <p:spPr>
          <a:xfrm>
            <a:off x="3703426" y="4212370"/>
            <a:ext cx="7729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운영중인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CA Pod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를 업그레이드 된 버전에 맞추어서 업데이트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(Associate-</a:t>
            </a:r>
            <a:r>
              <a:rPr lang="en-US" altLang="ko-KR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-with-host-zone)</a:t>
            </a:r>
            <a:endParaRPr lang="en-US" altLang="ko-Kore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9D833A1-575A-CB88-FC1F-1883230CADAE}"/>
              </a:ext>
            </a:extLst>
          </p:cNvPr>
          <p:cNvSpPr/>
          <p:nvPr/>
        </p:nvSpPr>
        <p:spPr>
          <a:xfrm>
            <a:off x="609600" y="4873567"/>
            <a:ext cx="2937164" cy="436418"/>
          </a:xfrm>
          <a:prstGeom prst="roundRect">
            <a:avLst>
              <a:gd name="adj" fmla="val 736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r>
              <a:rPr kumimoji="1" lang="en-US" altLang="ko-KR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6.Service </a:t>
            </a:r>
            <a:r>
              <a:rPr kumimoji="1" lang="ko-Kore-KR" altLang="en-US" sz="14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확인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C4DAAA27-02B8-F6C7-B8CE-451529125C79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2078182" y="4602018"/>
            <a:ext cx="0" cy="271549"/>
          </a:xfrm>
          <a:prstGeom prst="straightConnector1">
            <a:avLst/>
          </a:prstGeom>
          <a:ln w="38100" cap="rnd">
            <a:solidFill>
              <a:srgbClr val="FF85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6728062-4D43-C28E-CC74-F7C133C26F8D}"/>
              </a:ext>
            </a:extLst>
          </p:cNvPr>
          <p:cNvSpPr txBox="1"/>
          <p:nvPr/>
        </p:nvSpPr>
        <p:spPr>
          <a:xfrm>
            <a:off x="3416744" y="4824010"/>
            <a:ext cx="8255656" cy="535531"/>
          </a:xfrm>
          <a:prstGeom prst="rect">
            <a:avLst/>
          </a:prstGeom>
          <a:noFill/>
          <a:ln>
            <a:solidFill>
              <a:srgbClr val="FF8500"/>
            </a:solidFill>
          </a:ln>
        </p:spPr>
        <p:txBody>
          <a:bodyPr wrap="square" lIns="46800" tIns="46800" rIns="46800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endParaRPr kumimoji="1" lang="en-US" altLang="ko-Kore-KR" sz="1400" dirty="0">
              <a:latin typeface="NanumSquareOTF" panose="020B0600000101010101" pitchFamily="34" charset="-127"/>
              <a:ea typeface="NanumSquareOTF" panose="020B0600000101010101" pitchFamily="34" charset="-127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6DB25F-5A92-2180-9CC1-ED73780DF490}"/>
              </a:ext>
            </a:extLst>
          </p:cNvPr>
          <p:cNvSpPr txBox="1"/>
          <p:nvPr/>
        </p:nvSpPr>
        <p:spPr>
          <a:xfrm>
            <a:off x="3703426" y="4937886"/>
            <a:ext cx="7729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Consumer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Service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확인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(Provider VPC Endpoint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로 연결 확인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)</a:t>
            </a:r>
            <a:endParaRPr lang="en-US" altLang="ko-Kore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70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13C13-EF4F-70BC-8678-381C8399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SaaS VPC </a:t>
            </a:r>
            <a:r>
              <a:rPr kumimoji="1" lang="ko-Kore-KR" altLang="en-US" dirty="0"/>
              <a:t>비용 절감을 위한 아키텍쳐 </a:t>
            </a:r>
            <a:r>
              <a:rPr kumimoji="1" lang="en-US" altLang="ko-Kore-KR" dirty="0"/>
              <a:t>– TGW </a:t>
            </a:r>
            <a:r>
              <a:rPr kumimoji="1" lang="ko-Kore-KR" altLang="en-US" dirty="0"/>
              <a:t>기반 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BC7369-1081-0A8D-47B7-925220F9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1" name="Rectangle 5">
            <a:extLst>
              <a:ext uri="{FF2B5EF4-FFF2-40B4-BE49-F238E27FC236}">
                <a16:creationId xmlns:a16="http://schemas.microsoft.com/office/drawing/2014/main" id="{6AC60D9D-1819-4323-B876-805B4F37C592}"/>
              </a:ext>
            </a:extLst>
          </p:cNvPr>
          <p:cNvSpPr/>
          <p:nvPr/>
        </p:nvSpPr>
        <p:spPr bwMode="auto">
          <a:xfrm>
            <a:off x="800232" y="1588349"/>
            <a:ext cx="1541188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65" name="Graphic 38">
            <a:extLst>
              <a:ext uri="{FF2B5EF4-FFF2-40B4-BE49-F238E27FC236}">
                <a16:creationId xmlns:a16="http://schemas.microsoft.com/office/drawing/2014/main" id="{C31F2E33-66C1-C1B2-74CD-FCF6A603E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8220" y="1831716"/>
            <a:ext cx="381000" cy="381000"/>
          </a:xfrm>
          <a:prstGeom prst="rect">
            <a:avLst/>
          </a:prstGeom>
        </p:spPr>
      </p:pic>
      <p:sp>
        <p:nvSpPr>
          <p:cNvPr id="94" name="Rectangle 7">
            <a:extLst>
              <a:ext uri="{FF2B5EF4-FFF2-40B4-BE49-F238E27FC236}">
                <a16:creationId xmlns:a16="http://schemas.microsoft.com/office/drawing/2014/main" id="{C404D20E-7BA6-33A3-B4A6-3E6CA17CB0E1}"/>
              </a:ext>
            </a:extLst>
          </p:cNvPr>
          <p:cNvSpPr/>
          <p:nvPr/>
        </p:nvSpPr>
        <p:spPr>
          <a:xfrm>
            <a:off x="847107" y="3266575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95" name="Graphic 21">
            <a:extLst>
              <a:ext uri="{FF2B5EF4-FFF2-40B4-BE49-F238E27FC236}">
                <a16:creationId xmlns:a16="http://schemas.microsoft.com/office/drawing/2014/main" id="{0F94B313-EBF6-B446-024C-9AEA71647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7107" y="3266575"/>
            <a:ext cx="381000" cy="381000"/>
          </a:xfrm>
          <a:prstGeom prst="rect">
            <a:avLst/>
          </a:prstGeom>
        </p:spPr>
      </p:pic>
      <p:sp>
        <p:nvSpPr>
          <p:cNvPr id="98" name="Rectangle 8">
            <a:extLst>
              <a:ext uri="{FF2B5EF4-FFF2-40B4-BE49-F238E27FC236}">
                <a16:creationId xmlns:a16="http://schemas.microsoft.com/office/drawing/2014/main" id="{54BD63B2-52CB-623B-BFD4-4F735BDB85D6}"/>
              </a:ext>
            </a:extLst>
          </p:cNvPr>
          <p:cNvSpPr/>
          <p:nvPr/>
        </p:nvSpPr>
        <p:spPr>
          <a:xfrm>
            <a:off x="248463" y="1253386"/>
            <a:ext cx="4052024" cy="4202113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ysDash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(ap-northeast-2)</a:t>
            </a:r>
          </a:p>
        </p:txBody>
      </p:sp>
      <p:pic>
        <p:nvPicPr>
          <p:cNvPr id="99" name="Graphic 25">
            <a:extLst>
              <a:ext uri="{FF2B5EF4-FFF2-40B4-BE49-F238E27FC236}">
                <a16:creationId xmlns:a16="http://schemas.microsoft.com/office/drawing/2014/main" id="{5B905F52-A040-4848-01B1-69247F5D10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48463" y="1253386"/>
            <a:ext cx="381000" cy="381000"/>
          </a:xfrm>
          <a:prstGeom prst="rect">
            <a:avLst/>
          </a:prstGeom>
        </p:spPr>
      </p:pic>
      <p:sp>
        <p:nvSpPr>
          <p:cNvPr id="102" name="Rectangle 32">
            <a:extLst>
              <a:ext uri="{FF2B5EF4-FFF2-40B4-BE49-F238E27FC236}">
                <a16:creationId xmlns:a16="http://schemas.microsoft.com/office/drawing/2014/main" id="{4ADC3889-4E4F-622F-0EAE-D7E5D54AE4DA}"/>
              </a:ext>
            </a:extLst>
          </p:cNvPr>
          <p:cNvSpPr/>
          <p:nvPr/>
        </p:nvSpPr>
        <p:spPr>
          <a:xfrm>
            <a:off x="847107" y="2314072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03" name="Graphic 19">
            <a:extLst>
              <a:ext uri="{FF2B5EF4-FFF2-40B4-BE49-F238E27FC236}">
                <a16:creationId xmlns:a16="http://schemas.microsoft.com/office/drawing/2014/main" id="{AC7EBFFC-2627-8577-08B5-2D4C7DD4D4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7107" y="2314072"/>
            <a:ext cx="381000" cy="3810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7A7B9EBE-67A4-DFDE-C839-CB0E9AF377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07" y="2832987"/>
            <a:ext cx="288000" cy="288000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2B4E27CF-074B-8DC1-7085-D466713EFA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232" y="2838359"/>
            <a:ext cx="288000" cy="288000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783A5A2F-33AC-E299-9326-1B14E4B764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493" y="2834047"/>
            <a:ext cx="288000" cy="288000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1E0C0D15-9BD0-2FD1-6F8D-EF76BCE410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40" y="3783039"/>
            <a:ext cx="288000" cy="288000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AF1329DB-95CD-5378-351E-98466F91F3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426" y="3784099"/>
            <a:ext cx="288000" cy="288000"/>
          </a:xfrm>
          <a:prstGeom prst="rect">
            <a:avLst/>
          </a:prstGeom>
        </p:spPr>
      </p:pic>
      <p:sp>
        <p:nvSpPr>
          <p:cNvPr id="116" name="Rectangle 7">
            <a:extLst>
              <a:ext uri="{FF2B5EF4-FFF2-40B4-BE49-F238E27FC236}">
                <a16:creationId xmlns:a16="http://schemas.microsoft.com/office/drawing/2014/main" id="{896AEDE0-BD57-B13F-D9B8-B675804BD16C}"/>
              </a:ext>
            </a:extLst>
          </p:cNvPr>
          <p:cNvSpPr/>
          <p:nvPr/>
        </p:nvSpPr>
        <p:spPr>
          <a:xfrm>
            <a:off x="847107" y="4238005"/>
            <a:ext cx="1412773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EF66D1B6-7B2B-C1B7-3530-16C7F1535C3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47107" y="4238005"/>
            <a:ext cx="381000" cy="3937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4122A110-5010-686D-74F5-2779909F7A7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232" y="4730423"/>
            <a:ext cx="288000" cy="288000"/>
          </a:xfrm>
          <a:prstGeom prst="rect">
            <a:avLst/>
          </a:prstGeom>
        </p:spPr>
      </p:pic>
      <p:sp>
        <p:nvSpPr>
          <p:cNvPr id="136" name="Rectangle 5">
            <a:extLst>
              <a:ext uri="{FF2B5EF4-FFF2-40B4-BE49-F238E27FC236}">
                <a16:creationId xmlns:a16="http://schemas.microsoft.com/office/drawing/2014/main" id="{D7DD5C1D-0BDA-38EC-4CD2-4F2B4770F16B}"/>
              </a:ext>
            </a:extLst>
          </p:cNvPr>
          <p:cNvSpPr/>
          <p:nvPr/>
        </p:nvSpPr>
        <p:spPr bwMode="auto">
          <a:xfrm>
            <a:off x="2516418" y="1588349"/>
            <a:ext cx="1541188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137" name="Rectangle 7">
            <a:extLst>
              <a:ext uri="{FF2B5EF4-FFF2-40B4-BE49-F238E27FC236}">
                <a16:creationId xmlns:a16="http://schemas.microsoft.com/office/drawing/2014/main" id="{565FC914-C099-0869-4F26-454911D0EA12}"/>
              </a:ext>
            </a:extLst>
          </p:cNvPr>
          <p:cNvSpPr/>
          <p:nvPr/>
        </p:nvSpPr>
        <p:spPr>
          <a:xfrm>
            <a:off x="2563293" y="3266575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38" name="Graphic 21">
            <a:extLst>
              <a:ext uri="{FF2B5EF4-FFF2-40B4-BE49-F238E27FC236}">
                <a16:creationId xmlns:a16="http://schemas.microsoft.com/office/drawing/2014/main" id="{F835D225-8EA6-A1E8-F0E1-62CEA75E8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563293" y="3266575"/>
            <a:ext cx="381000" cy="381000"/>
          </a:xfrm>
          <a:prstGeom prst="rect">
            <a:avLst/>
          </a:prstGeom>
        </p:spPr>
      </p:pic>
      <p:sp>
        <p:nvSpPr>
          <p:cNvPr id="139" name="Rectangle 32">
            <a:extLst>
              <a:ext uri="{FF2B5EF4-FFF2-40B4-BE49-F238E27FC236}">
                <a16:creationId xmlns:a16="http://schemas.microsoft.com/office/drawing/2014/main" id="{B412F37B-202E-B048-29B0-BC2B1A5A25C6}"/>
              </a:ext>
            </a:extLst>
          </p:cNvPr>
          <p:cNvSpPr/>
          <p:nvPr/>
        </p:nvSpPr>
        <p:spPr>
          <a:xfrm>
            <a:off x="2563293" y="2314072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40" name="Graphic 19">
            <a:extLst>
              <a:ext uri="{FF2B5EF4-FFF2-40B4-BE49-F238E27FC236}">
                <a16:creationId xmlns:a16="http://schemas.microsoft.com/office/drawing/2014/main" id="{01AA976E-E805-5A53-266B-B29F30D721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563293" y="2314072"/>
            <a:ext cx="381000" cy="381000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5B470887-F706-B3F4-F201-EAF38A0CD6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93" y="2832987"/>
            <a:ext cx="288000" cy="288000"/>
          </a:xfrm>
          <a:prstGeom prst="rect">
            <a:avLst/>
          </a:prstGeom>
        </p:spPr>
      </p:pic>
      <p:pic>
        <p:nvPicPr>
          <p:cNvPr id="142" name="그림 141">
            <a:extLst>
              <a:ext uri="{FF2B5EF4-FFF2-40B4-BE49-F238E27FC236}">
                <a16:creationId xmlns:a16="http://schemas.microsoft.com/office/drawing/2014/main" id="{394DDA8A-64C6-FC0D-85F3-1308248040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418" y="2838359"/>
            <a:ext cx="288000" cy="288000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DFC624B1-874E-73B0-90AD-A5F6EBCE3D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679" y="2834047"/>
            <a:ext cx="288000" cy="288000"/>
          </a:xfrm>
          <a:prstGeom prst="rect">
            <a:avLst/>
          </a:prstGeom>
        </p:spPr>
      </p:pic>
      <p:pic>
        <p:nvPicPr>
          <p:cNvPr id="144" name="그림 143">
            <a:extLst>
              <a:ext uri="{FF2B5EF4-FFF2-40B4-BE49-F238E27FC236}">
                <a16:creationId xmlns:a16="http://schemas.microsoft.com/office/drawing/2014/main" id="{8F229806-DB41-EF1C-1D85-F46D74913A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26" y="3783039"/>
            <a:ext cx="288000" cy="288000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3F124309-EB48-B7B1-F4DF-9B8B35A7FB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612" y="3784099"/>
            <a:ext cx="288000" cy="288000"/>
          </a:xfrm>
          <a:prstGeom prst="rect">
            <a:avLst/>
          </a:prstGeom>
        </p:spPr>
      </p:pic>
      <p:sp>
        <p:nvSpPr>
          <p:cNvPr id="146" name="Rectangle 7">
            <a:extLst>
              <a:ext uri="{FF2B5EF4-FFF2-40B4-BE49-F238E27FC236}">
                <a16:creationId xmlns:a16="http://schemas.microsoft.com/office/drawing/2014/main" id="{9FC25A90-B724-1CD3-4AD3-435BD8F7FB11}"/>
              </a:ext>
            </a:extLst>
          </p:cNvPr>
          <p:cNvSpPr/>
          <p:nvPr/>
        </p:nvSpPr>
        <p:spPr>
          <a:xfrm>
            <a:off x="2563293" y="4238005"/>
            <a:ext cx="1412773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47" name="그림 146">
            <a:extLst>
              <a:ext uri="{FF2B5EF4-FFF2-40B4-BE49-F238E27FC236}">
                <a16:creationId xmlns:a16="http://schemas.microsoft.com/office/drawing/2014/main" id="{218CF009-811B-5713-5E18-79FB5F48B21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63293" y="4238005"/>
            <a:ext cx="381000" cy="393700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81611DDE-382D-4716-FB80-ADE7DE877D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418" y="4730423"/>
            <a:ext cx="288000" cy="288000"/>
          </a:xfrm>
          <a:prstGeom prst="rect">
            <a:avLst/>
          </a:prstGeom>
        </p:spPr>
      </p:pic>
      <p:sp>
        <p:nvSpPr>
          <p:cNvPr id="60" name="Rectangle 3">
            <a:extLst>
              <a:ext uri="{FF2B5EF4-FFF2-40B4-BE49-F238E27FC236}">
                <a16:creationId xmlns:a16="http://schemas.microsoft.com/office/drawing/2014/main" id="{5457C313-BC17-12BA-7FE6-2CFE0437CD73}"/>
              </a:ext>
            </a:extLst>
          </p:cNvPr>
          <p:cNvSpPr/>
          <p:nvPr/>
        </p:nvSpPr>
        <p:spPr bwMode="auto">
          <a:xfrm>
            <a:off x="376632" y="1834411"/>
            <a:ext cx="3795684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ICN VPC (10.11)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49" name="Rectangle 5">
            <a:extLst>
              <a:ext uri="{FF2B5EF4-FFF2-40B4-BE49-F238E27FC236}">
                <a16:creationId xmlns:a16="http://schemas.microsoft.com/office/drawing/2014/main" id="{1FA9297A-3F61-8B76-D821-E4BAF3CB2773}"/>
              </a:ext>
            </a:extLst>
          </p:cNvPr>
          <p:cNvSpPr/>
          <p:nvPr/>
        </p:nvSpPr>
        <p:spPr bwMode="auto">
          <a:xfrm>
            <a:off x="5116214" y="1588349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150" name="Graphic 38">
            <a:extLst>
              <a:ext uri="{FF2B5EF4-FFF2-40B4-BE49-F238E27FC236}">
                <a16:creationId xmlns:a16="http://schemas.microsoft.com/office/drawing/2014/main" id="{31111D4A-77FA-6A13-54A3-35AA67CA2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68143" y="1831716"/>
            <a:ext cx="381000" cy="381000"/>
          </a:xfrm>
          <a:prstGeom prst="rect">
            <a:avLst/>
          </a:prstGeom>
        </p:spPr>
      </p:pic>
      <p:sp>
        <p:nvSpPr>
          <p:cNvPr id="151" name="Rectangle 7">
            <a:extLst>
              <a:ext uri="{FF2B5EF4-FFF2-40B4-BE49-F238E27FC236}">
                <a16:creationId xmlns:a16="http://schemas.microsoft.com/office/drawing/2014/main" id="{6E31D0BD-E377-C3FA-AC8C-D7609A1BC8A5}"/>
              </a:ext>
            </a:extLst>
          </p:cNvPr>
          <p:cNvSpPr/>
          <p:nvPr/>
        </p:nvSpPr>
        <p:spPr>
          <a:xfrm>
            <a:off x="5163089" y="3266575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52" name="Graphic 21">
            <a:extLst>
              <a:ext uri="{FF2B5EF4-FFF2-40B4-BE49-F238E27FC236}">
                <a16:creationId xmlns:a16="http://schemas.microsoft.com/office/drawing/2014/main" id="{00D85D64-B0C2-7C98-5FEB-3D0C8BAF5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163089" y="3266575"/>
            <a:ext cx="381000" cy="381000"/>
          </a:xfrm>
          <a:prstGeom prst="rect">
            <a:avLst/>
          </a:prstGeom>
        </p:spPr>
      </p:pic>
      <p:sp>
        <p:nvSpPr>
          <p:cNvPr id="153" name="Rectangle 8">
            <a:extLst>
              <a:ext uri="{FF2B5EF4-FFF2-40B4-BE49-F238E27FC236}">
                <a16:creationId xmlns:a16="http://schemas.microsoft.com/office/drawing/2014/main" id="{2A924578-152A-0D0D-2EFE-5AB02941E465}"/>
              </a:ext>
            </a:extLst>
          </p:cNvPr>
          <p:cNvSpPr/>
          <p:nvPr/>
        </p:nvSpPr>
        <p:spPr>
          <a:xfrm>
            <a:off x="4538385" y="1253386"/>
            <a:ext cx="7360551" cy="4202113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ysDash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(ap-south-1)</a:t>
            </a:r>
          </a:p>
        </p:txBody>
      </p:sp>
      <p:pic>
        <p:nvPicPr>
          <p:cNvPr id="154" name="Graphic 25">
            <a:extLst>
              <a:ext uri="{FF2B5EF4-FFF2-40B4-BE49-F238E27FC236}">
                <a16:creationId xmlns:a16="http://schemas.microsoft.com/office/drawing/2014/main" id="{FA6AB60A-2C57-35E4-C07C-18A4C02CB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538386" y="1253386"/>
            <a:ext cx="381000" cy="381000"/>
          </a:xfrm>
          <a:prstGeom prst="rect">
            <a:avLst/>
          </a:prstGeom>
        </p:spPr>
      </p:pic>
      <p:sp>
        <p:nvSpPr>
          <p:cNvPr id="155" name="Rectangle 32">
            <a:extLst>
              <a:ext uri="{FF2B5EF4-FFF2-40B4-BE49-F238E27FC236}">
                <a16:creationId xmlns:a16="http://schemas.microsoft.com/office/drawing/2014/main" id="{8D052E67-D098-45DD-4C9C-1FBD6419BD09}"/>
              </a:ext>
            </a:extLst>
          </p:cNvPr>
          <p:cNvSpPr/>
          <p:nvPr/>
        </p:nvSpPr>
        <p:spPr>
          <a:xfrm>
            <a:off x="5163089" y="2314072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56" name="Graphic 19">
            <a:extLst>
              <a:ext uri="{FF2B5EF4-FFF2-40B4-BE49-F238E27FC236}">
                <a16:creationId xmlns:a16="http://schemas.microsoft.com/office/drawing/2014/main" id="{F4384800-4981-F2B3-C5F7-8E2E4271C0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163089" y="2314072"/>
            <a:ext cx="381000" cy="381000"/>
          </a:xfrm>
          <a:prstGeom prst="rect">
            <a:avLst/>
          </a:prstGeom>
        </p:spPr>
      </p:pic>
      <p:sp>
        <p:nvSpPr>
          <p:cNvPr id="162" name="Rectangle 7">
            <a:extLst>
              <a:ext uri="{FF2B5EF4-FFF2-40B4-BE49-F238E27FC236}">
                <a16:creationId xmlns:a16="http://schemas.microsoft.com/office/drawing/2014/main" id="{DF1DD7DE-2678-4310-0FCF-ED0884C028DB}"/>
              </a:ext>
            </a:extLst>
          </p:cNvPr>
          <p:cNvSpPr/>
          <p:nvPr/>
        </p:nvSpPr>
        <p:spPr>
          <a:xfrm>
            <a:off x="5163089" y="4238005"/>
            <a:ext cx="1310541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63" name="그림 162">
            <a:extLst>
              <a:ext uri="{FF2B5EF4-FFF2-40B4-BE49-F238E27FC236}">
                <a16:creationId xmlns:a16="http://schemas.microsoft.com/office/drawing/2014/main" id="{7B6BDB54-ED43-AF95-586A-DD3AF7C4450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63089" y="4238005"/>
            <a:ext cx="381000" cy="393700"/>
          </a:xfrm>
          <a:prstGeom prst="rect">
            <a:avLst/>
          </a:prstGeom>
        </p:spPr>
      </p:pic>
      <p:sp>
        <p:nvSpPr>
          <p:cNvPr id="178" name="Rectangle 3">
            <a:extLst>
              <a:ext uri="{FF2B5EF4-FFF2-40B4-BE49-F238E27FC236}">
                <a16:creationId xmlns:a16="http://schemas.microsoft.com/office/drawing/2014/main" id="{50E0F3BF-0571-37FE-9C60-57AA5126F559}"/>
              </a:ext>
            </a:extLst>
          </p:cNvPr>
          <p:cNvSpPr/>
          <p:nvPr/>
        </p:nvSpPr>
        <p:spPr bwMode="auto">
          <a:xfrm>
            <a:off x="4666556" y="1834411"/>
            <a:ext cx="3487418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BOM VPC (10.12)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DD902A86-B40E-86DE-6FF2-C52B0E087C9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214" y="3826974"/>
            <a:ext cx="288000" cy="288000"/>
          </a:xfrm>
          <a:prstGeom prst="rect">
            <a:avLst/>
          </a:prstGeom>
        </p:spPr>
      </p:pic>
      <p:sp>
        <p:nvSpPr>
          <p:cNvPr id="182" name="Rectangle 5">
            <a:extLst>
              <a:ext uri="{FF2B5EF4-FFF2-40B4-BE49-F238E27FC236}">
                <a16:creationId xmlns:a16="http://schemas.microsoft.com/office/drawing/2014/main" id="{24AE602C-FEA9-3852-3BA4-2966F153B5E4}"/>
              </a:ext>
            </a:extLst>
          </p:cNvPr>
          <p:cNvSpPr/>
          <p:nvPr/>
        </p:nvSpPr>
        <p:spPr bwMode="auto">
          <a:xfrm>
            <a:off x="6646938" y="1587661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183" name="Rectangle 7">
            <a:extLst>
              <a:ext uri="{FF2B5EF4-FFF2-40B4-BE49-F238E27FC236}">
                <a16:creationId xmlns:a16="http://schemas.microsoft.com/office/drawing/2014/main" id="{426B4AD8-FDC2-A43C-8BB2-202F320D50F5}"/>
              </a:ext>
            </a:extLst>
          </p:cNvPr>
          <p:cNvSpPr/>
          <p:nvPr/>
        </p:nvSpPr>
        <p:spPr>
          <a:xfrm>
            <a:off x="6693813" y="3265887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84" name="Graphic 21">
            <a:extLst>
              <a:ext uri="{FF2B5EF4-FFF2-40B4-BE49-F238E27FC236}">
                <a16:creationId xmlns:a16="http://schemas.microsoft.com/office/drawing/2014/main" id="{1D65A402-983B-2DCD-73D5-C951EB88F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693813" y="3265887"/>
            <a:ext cx="381000" cy="381000"/>
          </a:xfrm>
          <a:prstGeom prst="rect">
            <a:avLst/>
          </a:prstGeom>
        </p:spPr>
      </p:pic>
      <p:sp>
        <p:nvSpPr>
          <p:cNvPr id="185" name="Rectangle 32">
            <a:extLst>
              <a:ext uri="{FF2B5EF4-FFF2-40B4-BE49-F238E27FC236}">
                <a16:creationId xmlns:a16="http://schemas.microsoft.com/office/drawing/2014/main" id="{9B7C0D99-BFCF-D553-B3FB-B816DE4FB3F9}"/>
              </a:ext>
            </a:extLst>
          </p:cNvPr>
          <p:cNvSpPr/>
          <p:nvPr/>
        </p:nvSpPr>
        <p:spPr>
          <a:xfrm>
            <a:off x="6693813" y="2313384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86" name="Graphic 19">
            <a:extLst>
              <a:ext uri="{FF2B5EF4-FFF2-40B4-BE49-F238E27FC236}">
                <a16:creationId xmlns:a16="http://schemas.microsoft.com/office/drawing/2014/main" id="{D02C6D07-D4CE-CCD8-2AAA-904C50EAE7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693813" y="2313384"/>
            <a:ext cx="381000" cy="381000"/>
          </a:xfrm>
          <a:prstGeom prst="rect">
            <a:avLst/>
          </a:prstGeom>
        </p:spPr>
      </p:pic>
      <p:sp>
        <p:nvSpPr>
          <p:cNvPr id="187" name="Rectangle 7">
            <a:extLst>
              <a:ext uri="{FF2B5EF4-FFF2-40B4-BE49-F238E27FC236}">
                <a16:creationId xmlns:a16="http://schemas.microsoft.com/office/drawing/2014/main" id="{CADECA99-2CDF-7FC8-45CD-D875550F8118}"/>
              </a:ext>
            </a:extLst>
          </p:cNvPr>
          <p:cNvSpPr/>
          <p:nvPr/>
        </p:nvSpPr>
        <p:spPr>
          <a:xfrm>
            <a:off x="6693813" y="4237317"/>
            <a:ext cx="1310541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88" name="그림 187">
            <a:extLst>
              <a:ext uri="{FF2B5EF4-FFF2-40B4-BE49-F238E27FC236}">
                <a16:creationId xmlns:a16="http://schemas.microsoft.com/office/drawing/2014/main" id="{197DC06E-55A5-1A05-C069-4866CC63FA4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93813" y="4237317"/>
            <a:ext cx="381000" cy="393700"/>
          </a:xfrm>
          <a:prstGeom prst="rect">
            <a:avLst/>
          </a:prstGeom>
        </p:spPr>
      </p:pic>
      <p:pic>
        <p:nvPicPr>
          <p:cNvPr id="190" name="그림 189">
            <a:extLst>
              <a:ext uri="{FF2B5EF4-FFF2-40B4-BE49-F238E27FC236}">
                <a16:creationId xmlns:a16="http://schemas.microsoft.com/office/drawing/2014/main" id="{F810788F-B458-B4EB-AD42-A887A40E79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895" y="3512648"/>
            <a:ext cx="288000" cy="288000"/>
          </a:xfrm>
          <a:prstGeom prst="rect">
            <a:avLst/>
          </a:prstGeom>
        </p:spPr>
      </p:pic>
      <p:sp>
        <p:nvSpPr>
          <p:cNvPr id="211" name="Rectangle 5">
            <a:extLst>
              <a:ext uri="{FF2B5EF4-FFF2-40B4-BE49-F238E27FC236}">
                <a16:creationId xmlns:a16="http://schemas.microsoft.com/office/drawing/2014/main" id="{8F74F790-1D13-05E9-EDC6-A94F006F3A77}"/>
              </a:ext>
            </a:extLst>
          </p:cNvPr>
          <p:cNvSpPr/>
          <p:nvPr/>
        </p:nvSpPr>
        <p:spPr bwMode="auto">
          <a:xfrm>
            <a:off x="8775923" y="1588349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212" name="Graphic 38">
            <a:extLst>
              <a:ext uri="{FF2B5EF4-FFF2-40B4-BE49-F238E27FC236}">
                <a16:creationId xmlns:a16="http://schemas.microsoft.com/office/drawing/2014/main" id="{5B11F82D-C208-EDF3-ED57-50CF0CF88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27852" y="1831716"/>
            <a:ext cx="381000" cy="381000"/>
          </a:xfrm>
          <a:prstGeom prst="rect">
            <a:avLst/>
          </a:prstGeom>
        </p:spPr>
      </p:pic>
      <p:sp>
        <p:nvSpPr>
          <p:cNvPr id="213" name="Rectangle 7">
            <a:extLst>
              <a:ext uri="{FF2B5EF4-FFF2-40B4-BE49-F238E27FC236}">
                <a16:creationId xmlns:a16="http://schemas.microsoft.com/office/drawing/2014/main" id="{940040CA-E100-EE55-897E-DAA3F479ADE6}"/>
              </a:ext>
            </a:extLst>
          </p:cNvPr>
          <p:cNvSpPr/>
          <p:nvPr/>
        </p:nvSpPr>
        <p:spPr>
          <a:xfrm>
            <a:off x="8822798" y="4468267"/>
            <a:ext cx="1310541" cy="65805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14" name="Graphic 21">
            <a:extLst>
              <a:ext uri="{FF2B5EF4-FFF2-40B4-BE49-F238E27FC236}">
                <a16:creationId xmlns:a16="http://schemas.microsoft.com/office/drawing/2014/main" id="{331320ED-A022-065D-156E-90B0A1734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822798" y="4466407"/>
            <a:ext cx="381000" cy="381000"/>
          </a:xfrm>
          <a:prstGeom prst="rect">
            <a:avLst/>
          </a:prstGeom>
        </p:spPr>
      </p:pic>
      <p:sp>
        <p:nvSpPr>
          <p:cNvPr id="220" name="Rectangle 3">
            <a:extLst>
              <a:ext uri="{FF2B5EF4-FFF2-40B4-BE49-F238E27FC236}">
                <a16:creationId xmlns:a16="http://schemas.microsoft.com/office/drawing/2014/main" id="{756C14A9-A20E-AB92-4BA8-E295FB6AE96D}"/>
              </a:ext>
            </a:extLst>
          </p:cNvPr>
          <p:cNvSpPr/>
          <p:nvPr/>
        </p:nvSpPr>
        <p:spPr bwMode="auto">
          <a:xfrm>
            <a:off x="8326265" y="1834411"/>
            <a:ext cx="3487418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SaaS VPC (10.13)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(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e.g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DataDog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, 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Poralis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…)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22" name="Rectangle 5">
            <a:extLst>
              <a:ext uri="{FF2B5EF4-FFF2-40B4-BE49-F238E27FC236}">
                <a16:creationId xmlns:a16="http://schemas.microsoft.com/office/drawing/2014/main" id="{CE80252C-932C-24C4-014B-F5257BE23FCA}"/>
              </a:ext>
            </a:extLst>
          </p:cNvPr>
          <p:cNvSpPr/>
          <p:nvPr/>
        </p:nvSpPr>
        <p:spPr bwMode="auto">
          <a:xfrm>
            <a:off x="10306647" y="1587661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223" name="Rectangle 7">
            <a:extLst>
              <a:ext uri="{FF2B5EF4-FFF2-40B4-BE49-F238E27FC236}">
                <a16:creationId xmlns:a16="http://schemas.microsoft.com/office/drawing/2014/main" id="{C49EECF8-8D89-28E0-08D4-230214297557}"/>
              </a:ext>
            </a:extLst>
          </p:cNvPr>
          <p:cNvSpPr/>
          <p:nvPr/>
        </p:nvSpPr>
        <p:spPr>
          <a:xfrm>
            <a:off x="10353522" y="4467579"/>
            <a:ext cx="1310541" cy="65805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24" name="Graphic 21">
            <a:extLst>
              <a:ext uri="{FF2B5EF4-FFF2-40B4-BE49-F238E27FC236}">
                <a16:creationId xmlns:a16="http://schemas.microsoft.com/office/drawing/2014/main" id="{ED593182-771A-D4B4-E680-EC45CD789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353522" y="4465719"/>
            <a:ext cx="381000" cy="381000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F1A3C847-AE05-1A70-9A87-D267252643C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1837" y="1687716"/>
            <a:ext cx="288000" cy="288000"/>
          </a:xfrm>
          <a:prstGeom prst="rect">
            <a:avLst/>
          </a:prstGeom>
        </p:spPr>
      </p:pic>
      <p:pic>
        <p:nvPicPr>
          <p:cNvPr id="234" name="그림 233">
            <a:extLst>
              <a:ext uri="{FF2B5EF4-FFF2-40B4-BE49-F238E27FC236}">
                <a16:creationId xmlns:a16="http://schemas.microsoft.com/office/drawing/2014/main" id="{28B89830-0CD0-05A4-7178-B31ED44ED9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1830" y="1661382"/>
            <a:ext cx="288000" cy="288000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B10AA01D-A9B8-B3EC-02D1-A63950A817E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87259" y="1665480"/>
            <a:ext cx="288000" cy="288000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A2499B61-2510-5CFC-1AB0-5F2B4940903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596" y="5800643"/>
            <a:ext cx="335296" cy="335296"/>
          </a:xfrm>
          <a:prstGeom prst="rect">
            <a:avLst/>
          </a:prstGeom>
        </p:spPr>
      </p:pic>
      <p:pic>
        <p:nvPicPr>
          <p:cNvPr id="239" name="그림 238">
            <a:extLst>
              <a:ext uri="{FF2B5EF4-FFF2-40B4-BE49-F238E27FC236}">
                <a16:creationId xmlns:a16="http://schemas.microsoft.com/office/drawing/2014/main" id="{70F75F8E-E05C-C875-DB25-166AE84DE5F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257" y="5790461"/>
            <a:ext cx="162018" cy="162018"/>
          </a:xfrm>
          <a:prstGeom prst="rect">
            <a:avLst/>
          </a:prstGeom>
        </p:spPr>
      </p:pic>
      <p:pic>
        <p:nvPicPr>
          <p:cNvPr id="241" name="그림 240">
            <a:extLst>
              <a:ext uri="{FF2B5EF4-FFF2-40B4-BE49-F238E27FC236}">
                <a16:creationId xmlns:a16="http://schemas.microsoft.com/office/drawing/2014/main" id="{7E78FD82-0570-0282-D482-DCF11BAA376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487" y="5783877"/>
            <a:ext cx="162018" cy="162018"/>
          </a:xfrm>
          <a:prstGeom prst="rect">
            <a:avLst/>
          </a:prstGeom>
        </p:spPr>
      </p:pic>
      <p:cxnSp>
        <p:nvCxnSpPr>
          <p:cNvPr id="246" name="꺾인 연결선[E] 245">
            <a:extLst>
              <a:ext uri="{FF2B5EF4-FFF2-40B4-BE49-F238E27FC236}">
                <a16:creationId xmlns:a16="http://schemas.microsoft.com/office/drawing/2014/main" id="{44950FC5-3812-6B7A-CC3F-FCB7566737BC}"/>
              </a:ext>
            </a:extLst>
          </p:cNvPr>
          <p:cNvCxnSpPr>
            <a:cxnSpLocks/>
            <a:stCxn id="123" idx="2"/>
            <a:endCxn id="241" idx="0"/>
          </p:cNvCxnSpPr>
          <p:nvPr/>
        </p:nvCxnSpPr>
        <p:spPr>
          <a:xfrm rot="16200000" flipH="1">
            <a:off x="1896137" y="5087518"/>
            <a:ext cx="765454" cy="627264"/>
          </a:xfrm>
          <a:prstGeom prst="bentConnector3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5" name="그림 254">
            <a:extLst>
              <a:ext uri="{FF2B5EF4-FFF2-40B4-BE49-F238E27FC236}">
                <a16:creationId xmlns:a16="http://schemas.microsoft.com/office/drawing/2014/main" id="{ABDD6414-58D6-25C0-673E-13AA0B0718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777" y="4768615"/>
            <a:ext cx="288000" cy="288000"/>
          </a:xfrm>
          <a:prstGeom prst="rect">
            <a:avLst/>
          </a:prstGeom>
        </p:spPr>
      </p:pic>
      <p:pic>
        <p:nvPicPr>
          <p:cNvPr id="258" name="그림 257">
            <a:extLst>
              <a:ext uri="{FF2B5EF4-FFF2-40B4-BE49-F238E27FC236}">
                <a16:creationId xmlns:a16="http://schemas.microsoft.com/office/drawing/2014/main" id="{937DA0FB-6DD4-188F-3CC8-5158D397D2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5708" y="4765449"/>
            <a:ext cx="288000" cy="288000"/>
          </a:xfrm>
          <a:prstGeom prst="rect">
            <a:avLst/>
          </a:prstGeom>
        </p:spPr>
      </p:pic>
      <p:pic>
        <p:nvPicPr>
          <p:cNvPr id="264" name="그림 263">
            <a:extLst>
              <a:ext uri="{FF2B5EF4-FFF2-40B4-BE49-F238E27FC236}">
                <a16:creationId xmlns:a16="http://schemas.microsoft.com/office/drawing/2014/main" id="{F5311F98-68B0-EEBB-E6A2-2AEEDF6E862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11188" y="3514117"/>
            <a:ext cx="283279" cy="288000"/>
          </a:xfrm>
          <a:prstGeom prst="rect">
            <a:avLst/>
          </a:prstGeom>
        </p:spPr>
      </p:pic>
      <p:cxnSp>
        <p:nvCxnSpPr>
          <p:cNvPr id="269" name="직선 연결선[R] 268">
            <a:extLst>
              <a:ext uri="{FF2B5EF4-FFF2-40B4-BE49-F238E27FC236}">
                <a16:creationId xmlns:a16="http://schemas.microsoft.com/office/drawing/2014/main" id="{EA078134-526B-8DD5-7181-2A208E833F3F}"/>
              </a:ext>
            </a:extLst>
          </p:cNvPr>
          <p:cNvCxnSpPr>
            <a:stCxn id="190" idx="3"/>
            <a:endCxn id="264" idx="1"/>
          </p:cNvCxnSpPr>
          <p:nvPr/>
        </p:nvCxnSpPr>
        <p:spPr>
          <a:xfrm>
            <a:off x="7952895" y="3656648"/>
            <a:ext cx="2158293" cy="146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[E] 270">
            <a:extLst>
              <a:ext uri="{FF2B5EF4-FFF2-40B4-BE49-F238E27FC236}">
                <a16:creationId xmlns:a16="http://schemas.microsoft.com/office/drawing/2014/main" id="{770ECC7B-CD39-9BF1-363F-79B62B70A723}"/>
              </a:ext>
            </a:extLst>
          </p:cNvPr>
          <p:cNvCxnSpPr>
            <a:stCxn id="181" idx="3"/>
            <a:endCxn id="264" idx="1"/>
          </p:cNvCxnSpPr>
          <p:nvPr/>
        </p:nvCxnSpPr>
        <p:spPr>
          <a:xfrm flipV="1">
            <a:off x="6425214" y="3658117"/>
            <a:ext cx="3685974" cy="312857"/>
          </a:xfrm>
          <a:prstGeom prst="bentConnector3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" name="그림 275">
            <a:extLst>
              <a:ext uri="{FF2B5EF4-FFF2-40B4-BE49-F238E27FC236}">
                <a16:creationId xmlns:a16="http://schemas.microsoft.com/office/drawing/2014/main" id="{8F62EC61-1A1E-33FA-D47B-A558A508A6C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467" y="4091345"/>
            <a:ext cx="288000" cy="288000"/>
          </a:xfrm>
          <a:prstGeom prst="rect">
            <a:avLst/>
          </a:prstGeom>
        </p:spPr>
      </p:pic>
      <p:cxnSp>
        <p:nvCxnSpPr>
          <p:cNvPr id="278" name="직선 연결선[R] 277">
            <a:extLst>
              <a:ext uri="{FF2B5EF4-FFF2-40B4-BE49-F238E27FC236}">
                <a16:creationId xmlns:a16="http://schemas.microsoft.com/office/drawing/2014/main" id="{166BFBD3-F597-811C-33E2-457E4D824F51}"/>
              </a:ext>
            </a:extLst>
          </p:cNvPr>
          <p:cNvCxnSpPr>
            <a:stCxn id="264" idx="2"/>
            <a:endCxn id="276" idx="0"/>
          </p:cNvCxnSpPr>
          <p:nvPr/>
        </p:nvCxnSpPr>
        <p:spPr>
          <a:xfrm flipH="1">
            <a:off x="10250467" y="3802117"/>
            <a:ext cx="2361" cy="28922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[E] 282">
            <a:extLst>
              <a:ext uri="{FF2B5EF4-FFF2-40B4-BE49-F238E27FC236}">
                <a16:creationId xmlns:a16="http://schemas.microsoft.com/office/drawing/2014/main" id="{B7F48557-356B-61A5-2902-A665A8563636}"/>
              </a:ext>
            </a:extLst>
          </p:cNvPr>
          <p:cNvCxnSpPr>
            <a:cxnSpLocks/>
            <a:stCxn id="255" idx="0"/>
            <a:endCxn id="276" idx="1"/>
          </p:cNvCxnSpPr>
          <p:nvPr/>
        </p:nvCxnSpPr>
        <p:spPr>
          <a:xfrm rot="5400000" flipH="1" flipV="1">
            <a:off x="9561987" y="4224135"/>
            <a:ext cx="533270" cy="555690"/>
          </a:xfrm>
          <a:prstGeom prst="bentConnector2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[E] 286">
            <a:extLst>
              <a:ext uri="{FF2B5EF4-FFF2-40B4-BE49-F238E27FC236}">
                <a16:creationId xmlns:a16="http://schemas.microsoft.com/office/drawing/2014/main" id="{31E1F585-127D-570D-0258-A8C15747CD2E}"/>
              </a:ext>
            </a:extLst>
          </p:cNvPr>
          <p:cNvCxnSpPr>
            <a:cxnSpLocks/>
            <a:stCxn id="258" idx="0"/>
            <a:endCxn id="276" idx="3"/>
          </p:cNvCxnSpPr>
          <p:nvPr/>
        </p:nvCxnSpPr>
        <p:spPr>
          <a:xfrm rot="16200000" flipV="1">
            <a:off x="10492036" y="4137776"/>
            <a:ext cx="530104" cy="725241"/>
          </a:xfrm>
          <a:prstGeom prst="bentConnector2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3" name="그림 292">
            <a:extLst>
              <a:ext uri="{FF2B5EF4-FFF2-40B4-BE49-F238E27FC236}">
                <a16:creationId xmlns:a16="http://schemas.microsoft.com/office/drawing/2014/main" id="{93266FDE-BB93-9B9D-E635-9D50C85C047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015" y="3513721"/>
            <a:ext cx="288000" cy="288000"/>
          </a:xfrm>
          <a:prstGeom prst="rect">
            <a:avLst/>
          </a:prstGeom>
        </p:spPr>
      </p:pic>
      <p:pic>
        <p:nvPicPr>
          <p:cNvPr id="294" name="그림 293">
            <a:extLst>
              <a:ext uri="{FF2B5EF4-FFF2-40B4-BE49-F238E27FC236}">
                <a16:creationId xmlns:a16="http://schemas.microsoft.com/office/drawing/2014/main" id="{3D10D9C3-171B-2337-002B-95C7BCD9927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129" y="3510175"/>
            <a:ext cx="288000" cy="288000"/>
          </a:xfrm>
          <a:prstGeom prst="rect">
            <a:avLst/>
          </a:prstGeom>
        </p:spPr>
      </p:pic>
      <p:cxnSp>
        <p:nvCxnSpPr>
          <p:cNvPr id="296" name="직선 화살표 연결선 295">
            <a:extLst>
              <a:ext uri="{FF2B5EF4-FFF2-40B4-BE49-F238E27FC236}">
                <a16:creationId xmlns:a16="http://schemas.microsoft.com/office/drawing/2014/main" id="{DA707645-9282-A59C-90E8-634C8A244836}"/>
              </a:ext>
            </a:extLst>
          </p:cNvPr>
          <p:cNvCxnSpPr>
            <a:stCxn id="293" idx="3"/>
            <a:endCxn id="294" idx="1"/>
          </p:cNvCxnSpPr>
          <p:nvPr/>
        </p:nvCxnSpPr>
        <p:spPr>
          <a:xfrm flipV="1">
            <a:off x="4181015" y="3654175"/>
            <a:ext cx="727114" cy="3546"/>
          </a:xfrm>
          <a:prstGeom prst="straightConnector1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구부러진 연결선[U] 297">
            <a:extLst>
              <a:ext uri="{FF2B5EF4-FFF2-40B4-BE49-F238E27FC236}">
                <a16:creationId xmlns:a16="http://schemas.microsoft.com/office/drawing/2014/main" id="{1EDB6D8C-2B0E-0EBF-77AE-CE9881A9F82F}"/>
              </a:ext>
            </a:extLst>
          </p:cNvPr>
          <p:cNvCxnSpPr>
            <a:cxnSpLocks/>
            <a:stCxn id="145" idx="0"/>
            <a:endCxn id="293" idx="1"/>
          </p:cNvCxnSpPr>
          <p:nvPr/>
        </p:nvCxnSpPr>
        <p:spPr>
          <a:xfrm rot="5400000" flipH="1" flipV="1">
            <a:off x="3518124" y="3409209"/>
            <a:ext cx="126378" cy="623403"/>
          </a:xfrm>
          <a:prstGeom prst="curvedConnector2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구부러진 연결선[U] 301">
            <a:extLst>
              <a:ext uri="{FF2B5EF4-FFF2-40B4-BE49-F238E27FC236}">
                <a16:creationId xmlns:a16="http://schemas.microsoft.com/office/drawing/2014/main" id="{7E28716E-F682-F386-0BB8-50FB24B4A1C7}"/>
              </a:ext>
            </a:extLst>
          </p:cNvPr>
          <p:cNvCxnSpPr>
            <a:cxnSpLocks/>
            <a:stCxn id="294" idx="2"/>
            <a:endCxn id="181" idx="1"/>
          </p:cNvCxnSpPr>
          <p:nvPr/>
        </p:nvCxnSpPr>
        <p:spPr>
          <a:xfrm rot="16200000" flipH="1">
            <a:off x="5508272" y="3342031"/>
            <a:ext cx="172799" cy="1085085"/>
          </a:xfrm>
          <a:prstGeom prst="curvedConnector2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화살표 연결선 308">
            <a:extLst>
              <a:ext uri="{FF2B5EF4-FFF2-40B4-BE49-F238E27FC236}">
                <a16:creationId xmlns:a16="http://schemas.microsoft.com/office/drawing/2014/main" id="{BE0CABC2-BB67-5E86-49A5-03DCC9E0FE54}"/>
              </a:ext>
            </a:extLst>
          </p:cNvPr>
          <p:cNvCxnSpPr>
            <a:stCxn id="294" idx="3"/>
            <a:endCxn id="190" idx="1"/>
          </p:cNvCxnSpPr>
          <p:nvPr/>
        </p:nvCxnSpPr>
        <p:spPr>
          <a:xfrm>
            <a:off x="5196129" y="3654175"/>
            <a:ext cx="2468766" cy="2473"/>
          </a:xfrm>
          <a:prstGeom prst="straightConnector1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꺾인 연결선[E] 317">
            <a:extLst>
              <a:ext uri="{FF2B5EF4-FFF2-40B4-BE49-F238E27FC236}">
                <a16:creationId xmlns:a16="http://schemas.microsoft.com/office/drawing/2014/main" id="{005F3ED2-9841-12BA-672C-D6B9A182A0CF}"/>
              </a:ext>
            </a:extLst>
          </p:cNvPr>
          <p:cNvCxnSpPr>
            <a:cxnSpLocks/>
            <a:stCxn id="148" idx="2"/>
            <a:endCxn id="239" idx="0"/>
          </p:cNvCxnSpPr>
          <p:nvPr/>
        </p:nvCxnSpPr>
        <p:spPr>
          <a:xfrm rot="5400000">
            <a:off x="2894823" y="5003866"/>
            <a:ext cx="772038" cy="801152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3" name="그림 322">
            <a:extLst>
              <a:ext uri="{FF2B5EF4-FFF2-40B4-BE49-F238E27FC236}">
                <a16:creationId xmlns:a16="http://schemas.microsoft.com/office/drawing/2014/main" id="{85BE8A9C-417C-2EC0-FD56-947E58541A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816" y="4777397"/>
            <a:ext cx="288000" cy="288000"/>
          </a:xfrm>
          <a:prstGeom prst="rect">
            <a:avLst/>
          </a:prstGeom>
        </p:spPr>
      </p:pic>
      <p:pic>
        <p:nvPicPr>
          <p:cNvPr id="324" name="그림 323">
            <a:extLst>
              <a:ext uri="{FF2B5EF4-FFF2-40B4-BE49-F238E27FC236}">
                <a16:creationId xmlns:a16="http://schemas.microsoft.com/office/drawing/2014/main" id="{3308734E-EF1E-DA85-E6F9-CEE63EE766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799" y="4777397"/>
            <a:ext cx="288000" cy="288000"/>
          </a:xfrm>
          <a:prstGeom prst="rect">
            <a:avLst/>
          </a:prstGeom>
        </p:spPr>
      </p:pic>
      <p:pic>
        <p:nvPicPr>
          <p:cNvPr id="325" name="그림 324">
            <a:extLst>
              <a:ext uri="{FF2B5EF4-FFF2-40B4-BE49-F238E27FC236}">
                <a16:creationId xmlns:a16="http://schemas.microsoft.com/office/drawing/2014/main" id="{69FE4719-A718-0021-A377-F8172DA7C1F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180" y="5847617"/>
            <a:ext cx="335296" cy="335296"/>
          </a:xfrm>
          <a:prstGeom prst="rect">
            <a:avLst/>
          </a:prstGeom>
        </p:spPr>
      </p:pic>
      <p:pic>
        <p:nvPicPr>
          <p:cNvPr id="326" name="그림 325">
            <a:extLst>
              <a:ext uri="{FF2B5EF4-FFF2-40B4-BE49-F238E27FC236}">
                <a16:creationId xmlns:a16="http://schemas.microsoft.com/office/drawing/2014/main" id="{14A1F3E6-16D5-E854-F529-1EF92B9DEBB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841" y="5837435"/>
            <a:ext cx="162018" cy="162018"/>
          </a:xfrm>
          <a:prstGeom prst="rect">
            <a:avLst/>
          </a:prstGeom>
        </p:spPr>
      </p:pic>
      <p:pic>
        <p:nvPicPr>
          <p:cNvPr id="327" name="그림 326">
            <a:extLst>
              <a:ext uri="{FF2B5EF4-FFF2-40B4-BE49-F238E27FC236}">
                <a16:creationId xmlns:a16="http://schemas.microsoft.com/office/drawing/2014/main" id="{3C36D520-F445-A289-8552-6B4DE990F71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71" y="5830851"/>
            <a:ext cx="162018" cy="162018"/>
          </a:xfrm>
          <a:prstGeom prst="rect">
            <a:avLst/>
          </a:prstGeom>
        </p:spPr>
      </p:pic>
      <p:cxnSp>
        <p:nvCxnSpPr>
          <p:cNvPr id="328" name="꺾인 연결선[E] 327">
            <a:extLst>
              <a:ext uri="{FF2B5EF4-FFF2-40B4-BE49-F238E27FC236}">
                <a16:creationId xmlns:a16="http://schemas.microsoft.com/office/drawing/2014/main" id="{69F1AAA9-0DA7-AD66-7B36-E0591D3ADF56}"/>
              </a:ext>
            </a:extLst>
          </p:cNvPr>
          <p:cNvCxnSpPr>
            <a:cxnSpLocks/>
            <a:stCxn id="323" idx="2"/>
            <a:endCxn id="327" idx="0"/>
          </p:cNvCxnSpPr>
          <p:nvPr/>
        </p:nvCxnSpPr>
        <p:spPr>
          <a:xfrm rot="16200000" flipH="1">
            <a:off x="6242721" y="5134492"/>
            <a:ext cx="765454" cy="627264"/>
          </a:xfrm>
          <a:prstGeom prst="bentConnector3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꺾인 연결선[E] 328">
            <a:extLst>
              <a:ext uri="{FF2B5EF4-FFF2-40B4-BE49-F238E27FC236}">
                <a16:creationId xmlns:a16="http://schemas.microsoft.com/office/drawing/2014/main" id="{83E5F4BD-73D6-8A99-1EDB-E7D18A9AF941}"/>
              </a:ext>
            </a:extLst>
          </p:cNvPr>
          <p:cNvCxnSpPr>
            <a:cxnSpLocks/>
            <a:stCxn id="324" idx="2"/>
            <a:endCxn id="326" idx="0"/>
          </p:cNvCxnSpPr>
          <p:nvPr/>
        </p:nvCxnSpPr>
        <p:spPr>
          <a:xfrm rot="5400000">
            <a:off x="7130306" y="5161942"/>
            <a:ext cx="772038" cy="578949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1" name="그림 330">
            <a:extLst>
              <a:ext uri="{FF2B5EF4-FFF2-40B4-BE49-F238E27FC236}">
                <a16:creationId xmlns:a16="http://schemas.microsoft.com/office/drawing/2014/main" id="{FDB04E19-789B-92E7-C6B7-018ABBC3F4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257" y="6027551"/>
            <a:ext cx="162018" cy="162018"/>
          </a:xfrm>
          <a:prstGeom prst="rect">
            <a:avLst/>
          </a:prstGeom>
        </p:spPr>
      </p:pic>
      <p:pic>
        <p:nvPicPr>
          <p:cNvPr id="332" name="그림 331">
            <a:extLst>
              <a:ext uri="{FF2B5EF4-FFF2-40B4-BE49-F238E27FC236}">
                <a16:creationId xmlns:a16="http://schemas.microsoft.com/office/drawing/2014/main" id="{D94B2D5E-3B76-9F83-DC60-6499E07A249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71" y="6028762"/>
            <a:ext cx="162018" cy="162018"/>
          </a:xfrm>
          <a:prstGeom prst="rect">
            <a:avLst/>
          </a:prstGeom>
        </p:spPr>
      </p:pic>
      <p:cxnSp>
        <p:nvCxnSpPr>
          <p:cNvPr id="334" name="직선 연결선[R] 333">
            <a:extLst>
              <a:ext uri="{FF2B5EF4-FFF2-40B4-BE49-F238E27FC236}">
                <a16:creationId xmlns:a16="http://schemas.microsoft.com/office/drawing/2014/main" id="{758DB45B-5E4E-CB18-2BCD-CA2C70FBC38E}"/>
              </a:ext>
            </a:extLst>
          </p:cNvPr>
          <p:cNvCxnSpPr>
            <a:cxnSpLocks/>
            <a:stCxn id="331" idx="3"/>
            <a:endCxn id="332" idx="1"/>
          </p:cNvCxnSpPr>
          <p:nvPr/>
        </p:nvCxnSpPr>
        <p:spPr>
          <a:xfrm>
            <a:off x="2961275" y="6108560"/>
            <a:ext cx="3896796" cy="1211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모서리가 둥근 직사각형 239">
            <a:extLst>
              <a:ext uri="{FF2B5EF4-FFF2-40B4-BE49-F238E27FC236}">
                <a16:creationId xmlns:a16="http://schemas.microsoft.com/office/drawing/2014/main" id="{83868E47-F3F3-D497-730D-D8A6FC033F74}"/>
              </a:ext>
            </a:extLst>
          </p:cNvPr>
          <p:cNvSpPr/>
          <p:nvPr/>
        </p:nvSpPr>
        <p:spPr>
          <a:xfrm>
            <a:off x="4321225" y="5995959"/>
            <a:ext cx="815321" cy="225202"/>
          </a:xfrm>
          <a:prstGeom prst="roundRect">
            <a:avLst>
              <a:gd name="adj" fmla="val 8311"/>
            </a:avLst>
          </a:prstGeom>
          <a:solidFill>
            <a:srgbClr val="FF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ore-KR" altLang="en-US" dirty="0">
              <a:solidFill>
                <a:schemeClr val="bg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A21F3F03-681C-519A-8DB2-CB1B6726CEFD}"/>
              </a:ext>
            </a:extLst>
          </p:cNvPr>
          <p:cNvSpPr txBox="1"/>
          <p:nvPr/>
        </p:nvSpPr>
        <p:spPr>
          <a:xfrm>
            <a:off x="4339248" y="5992869"/>
            <a:ext cx="81532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ore-KR" sz="800" b="1" kern="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Inter Peering</a:t>
            </a:r>
            <a:endParaRPr kumimoji="0" lang="en-US" altLang="ko-Kore-KR" sz="8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B06B5867-2B36-52D4-5CCB-FA7406233098}"/>
              </a:ext>
            </a:extLst>
          </p:cNvPr>
          <p:cNvSpPr txBox="1"/>
          <p:nvPr/>
        </p:nvSpPr>
        <p:spPr>
          <a:xfrm>
            <a:off x="2109232" y="5974125"/>
            <a:ext cx="4657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ore-KR" sz="800" b="1" kern="0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TGW</a:t>
            </a:r>
            <a:endParaRPr kumimoji="0" lang="en-US" altLang="ko-Kore-KR" sz="8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4C9F315E-9103-0B56-4C15-8BCCC12222CA}"/>
              </a:ext>
            </a:extLst>
          </p:cNvPr>
          <p:cNvSpPr txBox="1"/>
          <p:nvPr/>
        </p:nvSpPr>
        <p:spPr>
          <a:xfrm>
            <a:off x="7226850" y="5992869"/>
            <a:ext cx="4657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ore-KR" sz="800" b="1" kern="0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TGW</a:t>
            </a:r>
            <a:endParaRPr kumimoji="0" lang="en-US" altLang="ko-Kore-KR" sz="8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E0525351-2FFE-B7B6-3D51-BA6DD727566B}"/>
              </a:ext>
            </a:extLst>
          </p:cNvPr>
          <p:cNvSpPr txBox="1"/>
          <p:nvPr/>
        </p:nvSpPr>
        <p:spPr>
          <a:xfrm>
            <a:off x="10239576" y="3548573"/>
            <a:ext cx="9470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ore-KR" sz="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Link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81FE1D5D-7A8A-C2C5-6CAA-063B81A7C42E}"/>
              </a:ext>
            </a:extLst>
          </p:cNvPr>
          <p:cNvSpPr txBox="1"/>
          <p:nvPr/>
        </p:nvSpPr>
        <p:spPr>
          <a:xfrm>
            <a:off x="10342236" y="4018553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ore-KR" sz="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NLB</a:t>
            </a:r>
          </a:p>
        </p:txBody>
      </p:sp>
    </p:spTree>
    <p:extLst>
      <p:ext uri="{BB962C8B-B14F-4D97-AF65-F5344CB8AC3E}">
        <p14:creationId xmlns:p14="http://schemas.microsoft.com/office/powerpoint/2010/main" val="192154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13C13-EF4F-70BC-8678-381C8399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SaaS VPC </a:t>
            </a:r>
            <a:r>
              <a:rPr kumimoji="1" lang="ko-Kore-KR" altLang="en-US" dirty="0"/>
              <a:t>비용 절감을 위한 아키텍쳐 </a:t>
            </a:r>
            <a:r>
              <a:rPr kumimoji="1" lang="en-US" altLang="ko-Kore-KR" dirty="0"/>
              <a:t>– VPC Peering </a:t>
            </a:r>
            <a:r>
              <a:rPr kumimoji="1" lang="ko-Kore-KR" altLang="en-US" dirty="0"/>
              <a:t>기반 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BC7369-1081-0A8D-47B7-925220F9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1" name="Rectangle 5">
            <a:extLst>
              <a:ext uri="{FF2B5EF4-FFF2-40B4-BE49-F238E27FC236}">
                <a16:creationId xmlns:a16="http://schemas.microsoft.com/office/drawing/2014/main" id="{6AC60D9D-1819-4323-B876-805B4F37C592}"/>
              </a:ext>
            </a:extLst>
          </p:cNvPr>
          <p:cNvSpPr/>
          <p:nvPr/>
        </p:nvSpPr>
        <p:spPr bwMode="auto">
          <a:xfrm>
            <a:off x="800232" y="1588349"/>
            <a:ext cx="1541188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65" name="Graphic 38">
            <a:extLst>
              <a:ext uri="{FF2B5EF4-FFF2-40B4-BE49-F238E27FC236}">
                <a16:creationId xmlns:a16="http://schemas.microsoft.com/office/drawing/2014/main" id="{C31F2E33-66C1-C1B2-74CD-FCF6A603E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8220" y="1831716"/>
            <a:ext cx="381000" cy="381000"/>
          </a:xfrm>
          <a:prstGeom prst="rect">
            <a:avLst/>
          </a:prstGeom>
        </p:spPr>
      </p:pic>
      <p:sp>
        <p:nvSpPr>
          <p:cNvPr id="94" name="Rectangle 7">
            <a:extLst>
              <a:ext uri="{FF2B5EF4-FFF2-40B4-BE49-F238E27FC236}">
                <a16:creationId xmlns:a16="http://schemas.microsoft.com/office/drawing/2014/main" id="{C404D20E-7BA6-33A3-B4A6-3E6CA17CB0E1}"/>
              </a:ext>
            </a:extLst>
          </p:cNvPr>
          <p:cNvSpPr/>
          <p:nvPr/>
        </p:nvSpPr>
        <p:spPr>
          <a:xfrm>
            <a:off x="847107" y="3266575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95" name="Graphic 21">
            <a:extLst>
              <a:ext uri="{FF2B5EF4-FFF2-40B4-BE49-F238E27FC236}">
                <a16:creationId xmlns:a16="http://schemas.microsoft.com/office/drawing/2014/main" id="{0F94B313-EBF6-B446-024C-9AEA71647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7107" y="3266575"/>
            <a:ext cx="381000" cy="381000"/>
          </a:xfrm>
          <a:prstGeom prst="rect">
            <a:avLst/>
          </a:prstGeom>
        </p:spPr>
      </p:pic>
      <p:sp>
        <p:nvSpPr>
          <p:cNvPr id="98" name="Rectangle 8">
            <a:extLst>
              <a:ext uri="{FF2B5EF4-FFF2-40B4-BE49-F238E27FC236}">
                <a16:creationId xmlns:a16="http://schemas.microsoft.com/office/drawing/2014/main" id="{54BD63B2-52CB-623B-BFD4-4F735BDB85D6}"/>
              </a:ext>
            </a:extLst>
          </p:cNvPr>
          <p:cNvSpPr/>
          <p:nvPr/>
        </p:nvSpPr>
        <p:spPr>
          <a:xfrm>
            <a:off x="248463" y="1253386"/>
            <a:ext cx="4052024" cy="4202113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ysDash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(ap-northeast-2)</a:t>
            </a:r>
          </a:p>
        </p:txBody>
      </p:sp>
      <p:pic>
        <p:nvPicPr>
          <p:cNvPr id="99" name="Graphic 25">
            <a:extLst>
              <a:ext uri="{FF2B5EF4-FFF2-40B4-BE49-F238E27FC236}">
                <a16:creationId xmlns:a16="http://schemas.microsoft.com/office/drawing/2014/main" id="{5B905F52-A040-4848-01B1-69247F5D10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48463" y="1253386"/>
            <a:ext cx="381000" cy="381000"/>
          </a:xfrm>
          <a:prstGeom prst="rect">
            <a:avLst/>
          </a:prstGeom>
        </p:spPr>
      </p:pic>
      <p:sp>
        <p:nvSpPr>
          <p:cNvPr id="102" name="Rectangle 32">
            <a:extLst>
              <a:ext uri="{FF2B5EF4-FFF2-40B4-BE49-F238E27FC236}">
                <a16:creationId xmlns:a16="http://schemas.microsoft.com/office/drawing/2014/main" id="{4ADC3889-4E4F-622F-0EAE-D7E5D54AE4DA}"/>
              </a:ext>
            </a:extLst>
          </p:cNvPr>
          <p:cNvSpPr/>
          <p:nvPr/>
        </p:nvSpPr>
        <p:spPr>
          <a:xfrm>
            <a:off x="847107" y="2314072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03" name="Graphic 19">
            <a:extLst>
              <a:ext uri="{FF2B5EF4-FFF2-40B4-BE49-F238E27FC236}">
                <a16:creationId xmlns:a16="http://schemas.microsoft.com/office/drawing/2014/main" id="{AC7EBFFC-2627-8577-08B5-2D4C7DD4D4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7107" y="2314072"/>
            <a:ext cx="381000" cy="3810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7A7B9EBE-67A4-DFDE-C839-CB0E9AF377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07" y="2832987"/>
            <a:ext cx="288000" cy="288000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2B4E27CF-074B-8DC1-7085-D466713EFA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232" y="2838359"/>
            <a:ext cx="288000" cy="288000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783A5A2F-33AC-E299-9326-1B14E4B764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493" y="2834047"/>
            <a:ext cx="288000" cy="288000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1E0C0D15-9BD0-2FD1-6F8D-EF76BCE410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40" y="3783039"/>
            <a:ext cx="288000" cy="288000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AF1329DB-95CD-5378-351E-98466F91F3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426" y="3784099"/>
            <a:ext cx="288000" cy="288000"/>
          </a:xfrm>
          <a:prstGeom prst="rect">
            <a:avLst/>
          </a:prstGeom>
        </p:spPr>
      </p:pic>
      <p:sp>
        <p:nvSpPr>
          <p:cNvPr id="116" name="Rectangle 7">
            <a:extLst>
              <a:ext uri="{FF2B5EF4-FFF2-40B4-BE49-F238E27FC236}">
                <a16:creationId xmlns:a16="http://schemas.microsoft.com/office/drawing/2014/main" id="{896AEDE0-BD57-B13F-D9B8-B675804BD16C}"/>
              </a:ext>
            </a:extLst>
          </p:cNvPr>
          <p:cNvSpPr/>
          <p:nvPr/>
        </p:nvSpPr>
        <p:spPr>
          <a:xfrm>
            <a:off x="847107" y="4238005"/>
            <a:ext cx="1412773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EF66D1B6-7B2B-C1B7-3530-16C7F1535C3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47107" y="4238005"/>
            <a:ext cx="381000" cy="3937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4122A110-5010-686D-74F5-2779909F7A7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232" y="4730423"/>
            <a:ext cx="288000" cy="288000"/>
          </a:xfrm>
          <a:prstGeom prst="rect">
            <a:avLst/>
          </a:prstGeom>
        </p:spPr>
      </p:pic>
      <p:sp>
        <p:nvSpPr>
          <p:cNvPr id="136" name="Rectangle 5">
            <a:extLst>
              <a:ext uri="{FF2B5EF4-FFF2-40B4-BE49-F238E27FC236}">
                <a16:creationId xmlns:a16="http://schemas.microsoft.com/office/drawing/2014/main" id="{D7DD5C1D-0BDA-38EC-4CD2-4F2B4770F16B}"/>
              </a:ext>
            </a:extLst>
          </p:cNvPr>
          <p:cNvSpPr/>
          <p:nvPr/>
        </p:nvSpPr>
        <p:spPr bwMode="auto">
          <a:xfrm>
            <a:off x="2516418" y="1588349"/>
            <a:ext cx="1541188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137" name="Rectangle 7">
            <a:extLst>
              <a:ext uri="{FF2B5EF4-FFF2-40B4-BE49-F238E27FC236}">
                <a16:creationId xmlns:a16="http://schemas.microsoft.com/office/drawing/2014/main" id="{565FC914-C099-0869-4F26-454911D0EA12}"/>
              </a:ext>
            </a:extLst>
          </p:cNvPr>
          <p:cNvSpPr/>
          <p:nvPr/>
        </p:nvSpPr>
        <p:spPr>
          <a:xfrm>
            <a:off x="2563293" y="3266575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38" name="Graphic 21">
            <a:extLst>
              <a:ext uri="{FF2B5EF4-FFF2-40B4-BE49-F238E27FC236}">
                <a16:creationId xmlns:a16="http://schemas.microsoft.com/office/drawing/2014/main" id="{F835D225-8EA6-A1E8-F0E1-62CEA75E8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563293" y="3266575"/>
            <a:ext cx="381000" cy="381000"/>
          </a:xfrm>
          <a:prstGeom prst="rect">
            <a:avLst/>
          </a:prstGeom>
        </p:spPr>
      </p:pic>
      <p:sp>
        <p:nvSpPr>
          <p:cNvPr id="139" name="Rectangle 32">
            <a:extLst>
              <a:ext uri="{FF2B5EF4-FFF2-40B4-BE49-F238E27FC236}">
                <a16:creationId xmlns:a16="http://schemas.microsoft.com/office/drawing/2014/main" id="{B412F37B-202E-B048-29B0-BC2B1A5A25C6}"/>
              </a:ext>
            </a:extLst>
          </p:cNvPr>
          <p:cNvSpPr/>
          <p:nvPr/>
        </p:nvSpPr>
        <p:spPr>
          <a:xfrm>
            <a:off x="2563293" y="2314072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40" name="Graphic 19">
            <a:extLst>
              <a:ext uri="{FF2B5EF4-FFF2-40B4-BE49-F238E27FC236}">
                <a16:creationId xmlns:a16="http://schemas.microsoft.com/office/drawing/2014/main" id="{01AA976E-E805-5A53-266B-B29F30D721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563293" y="2314072"/>
            <a:ext cx="381000" cy="381000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5B470887-F706-B3F4-F201-EAF38A0CD6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93" y="2832987"/>
            <a:ext cx="288000" cy="288000"/>
          </a:xfrm>
          <a:prstGeom prst="rect">
            <a:avLst/>
          </a:prstGeom>
        </p:spPr>
      </p:pic>
      <p:pic>
        <p:nvPicPr>
          <p:cNvPr id="142" name="그림 141">
            <a:extLst>
              <a:ext uri="{FF2B5EF4-FFF2-40B4-BE49-F238E27FC236}">
                <a16:creationId xmlns:a16="http://schemas.microsoft.com/office/drawing/2014/main" id="{394DDA8A-64C6-FC0D-85F3-1308248040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418" y="2838359"/>
            <a:ext cx="288000" cy="288000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DFC624B1-874E-73B0-90AD-A5F6EBCE3D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679" y="2834047"/>
            <a:ext cx="288000" cy="288000"/>
          </a:xfrm>
          <a:prstGeom prst="rect">
            <a:avLst/>
          </a:prstGeom>
        </p:spPr>
      </p:pic>
      <p:pic>
        <p:nvPicPr>
          <p:cNvPr id="144" name="그림 143">
            <a:extLst>
              <a:ext uri="{FF2B5EF4-FFF2-40B4-BE49-F238E27FC236}">
                <a16:creationId xmlns:a16="http://schemas.microsoft.com/office/drawing/2014/main" id="{8F229806-DB41-EF1C-1D85-F46D74913A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26" y="3783039"/>
            <a:ext cx="288000" cy="288000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3F124309-EB48-B7B1-F4DF-9B8B35A7FB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612" y="3784099"/>
            <a:ext cx="288000" cy="288000"/>
          </a:xfrm>
          <a:prstGeom prst="rect">
            <a:avLst/>
          </a:prstGeom>
        </p:spPr>
      </p:pic>
      <p:sp>
        <p:nvSpPr>
          <p:cNvPr id="146" name="Rectangle 7">
            <a:extLst>
              <a:ext uri="{FF2B5EF4-FFF2-40B4-BE49-F238E27FC236}">
                <a16:creationId xmlns:a16="http://schemas.microsoft.com/office/drawing/2014/main" id="{9FC25A90-B724-1CD3-4AD3-435BD8F7FB11}"/>
              </a:ext>
            </a:extLst>
          </p:cNvPr>
          <p:cNvSpPr/>
          <p:nvPr/>
        </p:nvSpPr>
        <p:spPr>
          <a:xfrm>
            <a:off x="2563293" y="4238005"/>
            <a:ext cx="1412773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47" name="그림 146">
            <a:extLst>
              <a:ext uri="{FF2B5EF4-FFF2-40B4-BE49-F238E27FC236}">
                <a16:creationId xmlns:a16="http://schemas.microsoft.com/office/drawing/2014/main" id="{218CF009-811B-5713-5E18-79FB5F48B21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63293" y="4238005"/>
            <a:ext cx="381000" cy="393700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81611DDE-382D-4716-FB80-ADE7DE877D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418" y="4730423"/>
            <a:ext cx="288000" cy="288000"/>
          </a:xfrm>
          <a:prstGeom prst="rect">
            <a:avLst/>
          </a:prstGeom>
        </p:spPr>
      </p:pic>
      <p:sp>
        <p:nvSpPr>
          <p:cNvPr id="60" name="Rectangle 3">
            <a:extLst>
              <a:ext uri="{FF2B5EF4-FFF2-40B4-BE49-F238E27FC236}">
                <a16:creationId xmlns:a16="http://schemas.microsoft.com/office/drawing/2014/main" id="{5457C313-BC17-12BA-7FE6-2CFE0437CD73}"/>
              </a:ext>
            </a:extLst>
          </p:cNvPr>
          <p:cNvSpPr/>
          <p:nvPr/>
        </p:nvSpPr>
        <p:spPr bwMode="auto">
          <a:xfrm>
            <a:off x="376632" y="1834411"/>
            <a:ext cx="3795684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ICN VPC (10.11)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49" name="Rectangle 5">
            <a:extLst>
              <a:ext uri="{FF2B5EF4-FFF2-40B4-BE49-F238E27FC236}">
                <a16:creationId xmlns:a16="http://schemas.microsoft.com/office/drawing/2014/main" id="{1FA9297A-3F61-8B76-D821-E4BAF3CB2773}"/>
              </a:ext>
            </a:extLst>
          </p:cNvPr>
          <p:cNvSpPr/>
          <p:nvPr/>
        </p:nvSpPr>
        <p:spPr bwMode="auto">
          <a:xfrm>
            <a:off x="5116214" y="1588349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150" name="Graphic 38">
            <a:extLst>
              <a:ext uri="{FF2B5EF4-FFF2-40B4-BE49-F238E27FC236}">
                <a16:creationId xmlns:a16="http://schemas.microsoft.com/office/drawing/2014/main" id="{31111D4A-77FA-6A13-54A3-35AA67CA2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68143" y="1831716"/>
            <a:ext cx="381000" cy="381000"/>
          </a:xfrm>
          <a:prstGeom prst="rect">
            <a:avLst/>
          </a:prstGeom>
        </p:spPr>
      </p:pic>
      <p:sp>
        <p:nvSpPr>
          <p:cNvPr id="151" name="Rectangle 7">
            <a:extLst>
              <a:ext uri="{FF2B5EF4-FFF2-40B4-BE49-F238E27FC236}">
                <a16:creationId xmlns:a16="http://schemas.microsoft.com/office/drawing/2014/main" id="{6E31D0BD-E377-C3FA-AC8C-D7609A1BC8A5}"/>
              </a:ext>
            </a:extLst>
          </p:cNvPr>
          <p:cNvSpPr/>
          <p:nvPr/>
        </p:nvSpPr>
        <p:spPr>
          <a:xfrm>
            <a:off x="5163089" y="3266575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52" name="Graphic 21">
            <a:extLst>
              <a:ext uri="{FF2B5EF4-FFF2-40B4-BE49-F238E27FC236}">
                <a16:creationId xmlns:a16="http://schemas.microsoft.com/office/drawing/2014/main" id="{00D85D64-B0C2-7C98-5FEB-3D0C8BAF5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163089" y="3266575"/>
            <a:ext cx="381000" cy="381000"/>
          </a:xfrm>
          <a:prstGeom prst="rect">
            <a:avLst/>
          </a:prstGeom>
        </p:spPr>
      </p:pic>
      <p:sp>
        <p:nvSpPr>
          <p:cNvPr id="153" name="Rectangle 8">
            <a:extLst>
              <a:ext uri="{FF2B5EF4-FFF2-40B4-BE49-F238E27FC236}">
                <a16:creationId xmlns:a16="http://schemas.microsoft.com/office/drawing/2014/main" id="{2A924578-152A-0D0D-2EFE-5AB02941E465}"/>
              </a:ext>
            </a:extLst>
          </p:cNvPr>
          <p:cNvSpPr/>
          <p:nvPr/>
        </p:nvSpPr>
        <p:spPr>
          <a:xfrm>
            <a:off x="4538385" y="1253386"/>
            <a:ext cx="7360551" cy="4202113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ysDash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(us-east-1)</a:t>
            </a:r>
          </a:p>
        </p:txBody>
      </p:sp>
      <p:pic>
        <p:nvPicPr>
          <p:cNvPr id="154" name="Graphic 25">
            <a:extLst>
              <a:ext uri="{FF2B5EF4-FFF2-40B4-BE49-F238E27FC236}">
                <a16:creationId xmlns:a16="http://schemas.microsoft.com/office/drawing/2014/main" id="{FA6AB60A-2C57-35E4-C07C-18A4C02CB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538386" y="1253386"/>
            <a:ext cx="381000" cy="381000"/>
          </a:xfrm>
          <a:prstGeom prst="rect">
            <a:avLst/>
          </a:prstGeom>
        </p:spPr>
      </p:pic>
      <p:sp>
        <p:nvSpPr>
          <p:cNvPr id="155" name="Rectangle 32">
            <a:extLst>
              <a:ext uri="{FF2B5EF4-FFF2-40B4-BE49-F238E27FC236}">
                <a16:creationId xmlns:a16="http://schemas.microsoft.com/office/drawing/2014/main" id="{8D052E67-D098-45DD-4C9C-1FBD6419BD09}"/>
              </a:ext>
            </a:extLst>
          </p:cNvPr>
          <p:cNvSpPr/>
          <p:nvPr/>
        </p:nvSpPr>
        <p:spPr>
          <a:xfrm>
            <a:off x="5163089" y="2314072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56" name="Graphic 19">
            <a:extLst>
              <a:ext uri="{FF2B5EF4-FFF2-40B4-BE49-F238E27FC236}">
                <a16:creationId xmlns:a16="http://schemas.microsoft.com/office/drawing/2014/main" id="{F4384800-4981-F2B3-C5F7-8E2E4271C0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163089" y="2314072"/>
            <a:ext cx="381000" cy="381000"/>
          </a:xfrm>
          <a:prstGeom prst="rect">
            <a:avLst/>
          </a:prstGeom>
        </p:spPr>
      </p:pic>
      <p:sp>
        <p:nvSpPr>
          <p:cNvPr id="162" name="Rectangle 7">
            <a:extLst>
              <a:ext uri="{FF2B5EF4-FFF2-40B4-BE49-F238E27FC236}">
                <a16:creationId xmlns:a16="http://schemas.microsoft.com/office/drawing/2014/main" id="{DF1DD7DE-2678-4310-0FCF-ED0884C028DB}"/>
              </a:ext>
            </a:extLst>
          </p:cNvPr>
          <p:cNvSpPr/>
          <p:nvPr/>
        </p:nvSpPr>
        <p:spPr>
          <a:xfrm>
            <a:off x="5163089" y="4238005"/>
            <a:ext cx="1310541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63" name="그림 162">
            <a:extLst>
              <a:ext uri="{FF2B5EF4-FFF2-40B4-BE49-F238E27FC236}">
                <a16:creationId xmlns:a16="http://schemas.microsoft.com/office/drawing/2014/main" id="{7B6BDB54-ED43-AF95-586A-DD3AF7C4450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63089" y="4238005"/>
            <a:ext cx="381000" cy="393700"/>
          </a:xfrm>
          <a:prstGeom prst="rect">
            <a:avLst/>
          </a:prstGeom>
        </p:spPr>
      </p:pic>
      <p:sp>
        <p:nvSpPr>
          <p:cNvPr id="178" name="Rectangle 3">
            <a:extLst>
              <a:ext uri="{FF2B5EF4-FFF2-40B4-BE49-F238E27FC236}">
                <a16:creationId xmlns:a16="http://schemas.microsoft.com/office/drawing/2014/main" id="{50E0F3BF-0571-37FE-9C60-57AA5126F559}"/>
              </a:ext>
            </a:extLst>
          </p:cNvPr>
          <p:cNvSpPr/>
          <p:nvPr/>
        </p:nvSpPr>
        <p:spPr bwMode="auto">
          <a:xfrm>
            <a:off x="4666556" y="1834411"/>
            <a:ext cx="3487418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BOM VPC (10.22)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DD902A86-B40E-86DE-6FF2-C52B0E087C9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214" y="3826974"/>
            <a:ext cx="288000" cy="288000"/>
          </a:xfrm>
          <a:prstGeom prst="rect">
            <a:avLst/>
          </a:prstGeom>
        </p:spPr>
      </p:pic>
      <p:sp>
        <p:nvSpPr>
          <p:cNvPr id="182" name="Rectangle 5">
            <a:extLst>
              <a:ext uri="{FF2B5EF4-FFF2-40B4-BE49-F238E27FC236}">
                <a16:creationId xmlns:a16="http://schemas.microsoft.com/office/drawing/2014/main" id="{24AE602C-FEA9-3852-3BA4-2966F153B5E4}"/>
              </a:ext>
            </a:extLst>
          </p:cNvPr>
          <p:cNvSpPr/>
          <p:nvPr/>
        </p:nvSpPr>
        <p:spPr bwMode="auto">
          <a:xfrm>
            <a:off x="6646938" y="1587661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183" name="Rectangle 7">
            <a:extLst>
              <a:ext uri="{FF2B5EF4-FFF2-40B4-BE49-F238E27FC236}">
                <a16:creationId xmlns:a16="http://schemas.microsoft.com/office/drawing/2014/main" id="{426B4AD8-FDC2-A43C-8BB2-202F320D50F5}"/>
              </a:ext>
            </a:extLst>
          </p:cNvPr>
          <p:cNvSpPr/>
          <p:nvPr/>
        </p:nvSpPr>
        <p:spPr>
          <a:xfrm>
            <a:off x="6693813" y="3265887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84" name="Graphic 21">
            <a:extLst>
              <a:ext uri="{FF2B5EF4-FFF2-40B4-BE49-F238E27FC236}">
                <a16:creationId xmlns:a16="http://schemas.microsoft.com/office/drawing/2014/main" id="{1D65A402-983B-2DCD-73D5-C951EB88F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693813" y="3265887"/>
            <a:ext cx="381000" cy="381000"/>
          </a:xfrm>
          <a:prstGeom prst="rect">
            <a:avLst/>
          </a:prstGeom>
        </p:spPr>
      </p:pic>
      <p:sp>
        <p:nvSpPr>
          <p:cNvPr id="185" name="Rectangle 32">
            <a:extLst>
              <a:ext uri="{FF2B5EF4-FFF2-40B4-BE49-F238E27FC236}">
                <a16:creationId xmlns:a16="http://schemas.microsoft.com/office/drawing/2014/main" id="{9B7C0D99-BFCF-D553-B3FB-B816DE4FB3F9}"/>
              </a:ext>
            </a:extLst>
          </p:cNvPr>
          <p:cNvSpPr/>
          <p:nvPr/>
        </p:nvSpPr>
        <p:spPr>
          <a:xfrm>
            <a:off x="6693813" y="2313384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86" name="Graphic 19">
            <a:extLst>
              <a:ext uri="{FF2B5EF4-FFF2-40B4-BE49-F238E27FC236}">
                <a16:creationId xmlns:a16="http://schemas.microsoft.com/office/drawing/2014/main" id="{D02C6D07-D4CE-CCD8-2AAA-904C50EAE7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693813" y="2313384"/>
            <a:ext cx="381000" cy="381000"/>
          </a:xfrm>
          <a:prstGeom prst="rect">
            <a:avLst/>
          </a:prstGeom>
        </p:spPr>
      </p:pic>
      <p:sp>
        <p:nvSpPr>
          <p:cNvPr id="187" name="Rectangle 7">
            <a:extLst>
              <a:ext uri="{FF2B5EF4-FFF2-40B4-BE49-F238E27FC236}">
                <a16:creationId xmlns:a16="http://schemas.microsoft.com/office/drawing/2014/main" id="{CADECA99-2CDF-7FC8-45CD-D875550F8118}"/>
              </a:ext>
            </a:extLst>
          </p:cNvPr>
          <p:cNvSpPr/>
          <p:nvPr/>
        </p:nvSpPr>
        <p:spPr>
          <a:xfrm>
            <a:off x="6693813" y="4237317"/>
            <a:ext cx="1310541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88" name="그림 187">
            <a:extLst>
              <a:ext uri="{FF2B5EF4-FFF2-40B4-BE49-F238E27FC236}">
                <a16:creationId xmlns:a16="http://schemas.microsoft.com/office/drawing/2014/main" id="{197DC06E-55A5-1A05-C069-4866CC63FA4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93813" y="4237317"/>
            <a:ext cx="381000" cy="393700"/>
          </a:xfrm>
          <a:prstGeom prst="rect">
            <a:avLst/>
          </a:prstGeom>
        </p:spPr>
      </p:pic>
      <p:pic>
        <p:nvPicPr>
          <p:cNvPr id="190" name="그림 189">
            <a:extLst>
              <a:ext uri="{FF2B5EF4-FFF2-40B4-BE49-F238E27FC236}">
                <a16:creationId xmlns:a16="http://schemas.microsoft.com/office/drawing/2014/main" id="{F810788F-B458-B4EB-AD42-A887A40E79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895" y="3512648"/>
            <a:ext cx="288000" cy="288000"/>
          </a:xfrm>
          <a:prstGeom prst="rect">
            <a:avLst/>
          </a:prstGeom>
        </p:spPr>
      </p:pic>
      <p:sp>
        <p:nvSpPr>
          <p:cNvPr id="211" name="Rectangle 5">
            <a:extLst>
              <a:ext uri="{FF2B5EF4-FFF2-40B4-BE49-F238E27FC236}">
                <a16:creationId xmlns:a16="http://schemas.microsoft.com/office/drawing/2014/main" id="{8F74F790-1D13-05E9-EDC6-A94F006F3A77}"/>
              </a:ext>
            </a:extLst>
          </p:cNvPr>
          <p:cNvSpPr/>
          <p:nvPr/>
        </p:nvSpPr>
        <p:spPr bwMode="auto">
          <a:xfrm>
            <a:off x="8775923" y="1588349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212" name="Graphic 38">
            <a:extLst>
              <a:ext uri="{FF2B5EF4-FFF2-40B4-BE49-F238E27FC236}">
                <a16:creationId xmlns:a16="http://schemas.microsoft.com/office/drawing/2014/main" id="{5B11F82D-C208-EDF3-ED57-50CF0CF88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27852" y="1831716"/>
            <a:ext cx="381000" cy="381000"/>
          </a:xfrm>
          <a:prstGeom prst="rect">
            <a:avLst/>
          </a:prstGeom>
        </p:spPr>
      </p:pic>
      <p:sp>
        <p:nvSpPr>
          <p:cNvPr id="213" name="Rectangle 7">
            <a:extLst>
              <a:ext uri="{FF2B5EF4-FFF2-40B4-BE49-F238E27FC236}">
                <a16:creationId xmlns:a16="http://schemas.microsoft.com/office/drawing/2014/main" id="{940040CA-E100-EE55-897E-DAA3F479ADE6}"/>
              </a:ext>
            </a:extLst>
          </p:cNvPr>
          <p:cNvSpPr/>
          <p:nvPr/>
        </p:nvSpPr>
        <p:spPr>
          <a:xfrm>
            <a:off x="8822798" y="4468267"/>
            <a:ext cx="1310541" cy="65805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14" name="Graphic 21">
            <a:extLst>
              <a:ext uri="{FF2B5EF4-FFF2-40B4-BE49-F238E27FC236}">
                <a16:creationId xmlns:a16="http://schemas.microsoft.com/office/drawing/2014/main" id="{331320ED-A022-065D-156E-90B0A1734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822798" y="4466407"/>
            <a:ext cx="381000" cy="381000"/>
          </a:xfrm>
          <a:prstGeom prst="rect">
            <a:avLst/>
          </a:prstGeom>
        </p:spPr>
      </p:pic>
      <p:sp>
        <p:nvSpPr>
          <p:cNvPr id="220" name="Rectangle 3">
            <a:extLst>
              <a:ext uri="{FF2B5EF4-FFF2-40B4-BE49-F238E27FC236}">
                <a16:creationId xmlns:a16="http://schemas.microsoft.com/office/drawing/2014/main" id="{756C14A9-A20E-AB92-4BA8-E295FB6AE96D}"/>
              </a:ext>
            </a:extLst>
          </p:cNvPr>
          <p:cNvSpPr/>
          <p:nvPr/>
        </p:nvSpPr>
        <p:spPr bwMode="auto">
          <a:xfrm>
            <a:off x="8326265" y="1834411"/>
            <a:ext cx="3487418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SaaS VPC (10.23)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(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e.g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DataDog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, 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Poralis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…)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22" name="Rectangle 5">
            <a:extLst>
              <a:ext uri="{FF2B5EF4-FFF2-40B4-BE49-F238E27FC236}">
                <a16:creationId xmlns:a16="http://schemas.microsoft.com/office/drawing/2014/main" id="{CE80252C-932C-24C4-014B-F5257BE23FCA}"/>
              </a:ext>
            </a:extLst>
          </p:cNvPr>
          <p:cNvSpPr/>
          <p:nvPr/>
        </p:nvSpPr>
        <p:spPr bwMode="auto">
          <a:xfrm>
            <a:off x="10306647" y="1587661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223" name="Rectangle 7">
            <a:extLst>
              <a:ext uri="{FF2B5EF4-FFF2-40B4-BE49-F238E27FC236}">
                <a16:creationId xmlns:a16="http://schemas.microsoft.com/office/drawing/2014/main" id="{C49EECF8-8D89-28E0-08D4-230214297557}"/>
              </a:ext>
            </a:extLst>
          </p:cNvPr>
          <p:cNvSpPr/>
          <p:nvPr/>
        </p:nvSpPr>
        <p:spPr>
          <a:xfrm>
            <a:off x="10353522" y="4467579"/>
            <a:ext cx="1310541" cy="65805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24" name="Graphic 21">
            <a:extLst>
              <a:ext uri="{FF2B5EF4-FFF2-40B4-BE49-F238E27FC236}">
                <a16:creationId xmlns:a16="http://schemas.microsoft.com/office/drawing/2014/main" id="{ED593182-771A-D4B4-E680-EC45CD789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353522" y="4465719"/>
            <a:ext cx="381000" cy="381000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F1A3C847-AE05-1A70-9A87-D267252643C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1837" y="1687716"/>
            <a:ext cx="288000" cy="288000"/>
          </a:xfrm>
          <a:prstGeom prst="rect">
            <a:avLst/>
          </a:prstGeom>
        </p:spPr>
      </p:pic>
      <p:pic>
        <p:nvPicPr>
          <p:cNvPr id="234" name="그림 233">
            <a:extLst>
              <a:ext uri="{FF2B5EF4-FFF2-40B4-BE49-F238E27FC236}">
                <a16:creationId xmlns:a16="http://schemas.microsoft.com/office/drawing/2014/main" id="{28B89830-0CD0-05A4-7178-B31ED44ED9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1830" y="1661382"/>
            <a:ext cx="288000" cy="288000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B10AA01D-A9B8-B3EC-02D1-A63950A817E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87259" y="1665480"/>
            <a:ext cx="288000" cy="288000"/>
          </a:xfrm>
          <a:prstGeom prst="rect">
            <a:avLst/>
          </a:prstGeom>
        </p:spPr>
      </p:pic>
      <p:pic>
        <p:nvPicPr>
          <p:cNvPr id="255" name="그림 254">
            <a:extLst>
              <a:ext uri="{FF2B5EF4-FFF2-40B4-BE49-F238E27FC236}">
                <a16:creationId xmlns:a16="http://schemas.microsoft.com/office/drawing/2014/main" id="{ABDD6414-58D6-25C0-673E-13AA0B0718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777" y="4768615"/>
            <a:ext cx="288000" cy="288000"/>
          </a:xfrm>
          <a:prstGeom prst="rect">
            <a:avLst/>
          </a:prstGeom>
        </p:spPr>
      </p:pic>
      <p:pic>
        <p:nvPicPr>
          <p:cNvPr id="258" name="그림 257">
            <a:extLst>
              <a:ext uri="{FF2B5EF4-FFF2-40B4-BE49-F238E27FC236}">
                <a16:creationId xmlns:a16="http://schemas.microsoft.com/office/drawing/2014/main" id="{937DA0FB-6DD4-188F-3CC8-5158D397D2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5708" y="4765449"/>
            <a:ext cx="288000" cy="288000"/>
          </a:xfrm>
          <a:prstGeom prst="rect">
            <a:avLst/>
          </a:prstGeom>
        </p:spPr>
      </p:pic>
      <p:pic>
        <p:nvPicPr>
          <p:cNvPr id="264" name="그림 263">
            <a:extLst>
              <a:ext uri="{FF2B5EF4-FFF2-40B4-BE49-F238E27FC236}">
                <a16:creationId xmlns:a16="http://schemas.microsoft.com/office/drawing/2014/main" id="{F5311F98-68B0-EEBB-E6A2-2AEEDF6E862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1188" y="3514117"/>
            <a:ext cx="283279" cy="288000"/>
          </a:xfrm>
          <a:prstGeom prst="rect">
            <a:avLst/>
          </a:prstGeom>
        </p:spPr>
      </p:pic>
      <p:cxnSp>
        <p:nvCxnSpPr>
          <p:cNvPr id="269" name="직선 연결선[R] 268">
            <a:extLst>
              <a:ext uri="{FF2B5EF4-FFF2-40B4-BE49-F238E27FC236}">
                <a16:creationId xmlns:a16="http://schemas.microsoft.com/office/drawing/2014/main" id="{EA078134-526B-8DD5-7181-2A208E833F3F}"/>
              </a:ext>
            </a:extLst>
          </p:cNvPr>
          <p:cNvCxnSpPr>
            <a:stCxn id="190" idx="3"/>
            <a:endCxn id="264" idx="1"/>
          </p:cNvCxnSpPr>
          <p:nvPr/>
        </p:nvCxnSpPr>
        <p:spPr>
          <a:xfrm>
            <a:off x="7952895" y="3656648"/>
            <a:ext cx="2158293" cy="146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[E] 270">
            <a:extLst>
              <a:ext uri="{FF2B5EF4-FFF2-40B4-BE49-F238E27FC236}">
                <a16:creationId xmlns:a16="http://schemas.microsoft.com/office/drawing/2014/main" id="{770ECC7B-CD39-9BF1-363F-79B62B70A723}"/>
              </a:ext>
            </a:extLst>
          </p:cNvPr>
          <p:cNvCxnSpPr>
            <a:stCxn id="181" idx="3"/>
            <a:endCxn id="264" idx="1"/>
          </p:cNvCxnSpPr>
          <p:nvPr/>
        </p:nvCxnSpPr>
        <p:spPr>
          <a:xfrm flipV="1">
            <a:off x="6425214" y="3658117"/>
            <a:ext cx="3685974" cy="312857"/>
          </a:xfrm>
          <a:prstGeom prst="bentConnector3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" name="그림 275">
            <a:extLst>
              <a:ext uri="{FF2B5EF4-FFF2-40B4-BE49-F238E27FC236}">
                <a16:creationId xmlns:a16="http://schemas.microsoft.com/office/drawing/2014/main" id="{8F62EC61-1A1E-33FA-D47B-A558A508A6C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467" y="4091345"/>
            <a:ext cx="288000" cy="288000"/>
          </a:xfrm>
          <a:prstGeom prst="rect">
            <a:avLst/>
          </a:prstGeom>
        </p:spPr>
      </p:pic>
      <p:cxnSp>
        <p:nvCxnSpPr>
          <p:cNvPr id="278" name="직선 연결선[R] 277">
            <a:extLst>
              <a:ext uri="{FF2B5EF4-FFF2-40B4-BE49-F238E27FC236}">
                <a16:creationId xmlns:a16="http://schemas.microsoft.com/office/drawing/2014/main" id="{166BFBD3-F597-811C-33E2-457E4D824F51}"/>
              </a:ext>
            </a:extLst>
          </p:cNvPr>
          <p:cNvCxnSpPr>
            <a:stCxn id="264" idx="2"/>
            <a:endCxn id="276" idx="0"/>
          </p:cNvCxnSpPr>
          <p:nvPr/>
        </p:nvCxnSpPr>
        <p:spPr>
          <a:xfrm flipH="1">
            <a:off x="10250467" y="3802117"/>
            <a:ext cx="2361" cy="28922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[E] 282">
            <a:extLst>
              <a:ext uri="{FF2B5EF4-FFF2-40B4-BE49-F238E27FC236}">
                <a16:creationId xmlns:a16="http://schemas.microsoft.com/office/drawing/2014/main" id="{B7F48557-356B-61A5-2902-A665A8563636}"/>
              </a:ext>
            </a:extLst>
          </p:cNvPr>
          <p:cNvCxnSpPr>
            <a:cxnSpLocks/>
            <a:stCxn id="255" idx="0"/>
            <a:endCxn id="276" idx="1"/>
          </p:cNvCxnSpPr>
          <p:nvPr/>
        </p:nvCxnSpPr>
        <p:spPr>
          <a:xfrm rot="5400000" flipH="1" flipV="1">
            <a:off x="9561987" y="4224135"/>
            <a:ext cx="533270" cy="555690"/>
          </a:xfrm>
          <a:prstGeom prst="bentConnector2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[E] 286">
            <a:extLst>
              <a:ext uri="{FF2B5EF4-FFF2-40B4-BE49-F238E27FC236}">
                <a16:creationId xmlns:a16="http://schemas.microsoft.com/office/drawing/2014/main" id="{31E1F585-127D-570D-0258-A8C15747CD2E}"/>
              </a:ext>
            </a:extLst>
          </p:cNvPr>
          <p:cNvCxnSpPr>
            <a:cxnSpLocks/>
            <a:stCxn id="258" idx="0"/>
            <a:endCxn id="276" idx="3"/>
          </p:cNvCxnSpPr>
          <p:nvPr/>
        </p:nvCxnSpPr>
        <p:spPr>
          <a:xfrm rot="16200000" flipV="1">
            <a:off x="10492036" y="4137776"/>
            <a:ext cx="530104" cy="725241"/>
          </a:xfrm>
          <a:prstGeom prst="bentConnector2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3" name="그림 292">
            <a:extLst>
              <a:ext uri="{FF2B5EF4-FFF2-40B4-BE49-F238E27FC236}">
                <a16:creationId xmlns:a16="http://schemas.microsoft.com/office/drawing/2014/main" id="{93266FDE-BB93-9B9D-E635-9D50C85C047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015" y="3513721"/>
            <a:ext cx="288000" cy="288000"/>
          </a:xfrm>
          <a:prstGeom prst="rect">
            <a:avLst/>
          </a:prstGeom>
        </p:spPr>
      </p:pic>
      <p:pic>
        <p:nvPicPr>
          <p:cNvPr id="294" name="그림 293">
            <a:extLst>
              <a:ext uri="{FF2B5EF4-FFF2-40B4-BE49-F238E27FC236}">
                <a16:creationId xmlns:a16="http://schemas.microsoft.com/office/drawing/2014/main" id="{3D10D9C3-171B-2337-002B-95C7BCD9927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129" y="3510175"/>
            <a:ext cx="288000" cy="288000"/>
          </a:xfrm>
          <a:prstGeom prst="rect">
            <a:avLst/>
          </a:prstGeom>
        </p:spPr>
      </p:pic>
      <p:cxnSp>
        <p:nvCxnSpPr>
          <p:cNvPr id="296" name="직선 화살표 연결선 295">
            <a:extLst>
              <a:ext uri="{FF2B5EF4-FFF2-40B4-BE49-F238E27FC236}">
                <a16:creationId xmlns:a16="http://schemas.microsoft.com/office/drawing/2014/main" id="{DA707645-9282-A59C-90E8-634C8A244836}"/>
              </a:ext>
            </a:extLst>
          </p:cNvPr>
          <p:cNvCxnSpPr>
            <a:stCxn id="293" idx="3"/>
            <a:endCxn id="294" idx="1"/>
          </p:cNvCxnSpPr>
          <p:nvPr/>
        </p:nvCxnSpPr>
        <p:spPr>
          <a:xfrm flipV="1">
            <a:off x="4181015" y="3654175"/>
            <a:ext cx="727114" cy="3546"/>
          </a:xfrm>
          <a:prstGeom prst="straightConnector1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구부러진 연결선[U] 297">
            <a:extLst>
              <a:ext uri="{FF2B5EF4-FFF2-40B4-BE49-F238E27FC236}">
                <a16:creationId xmlns:a16="http://schemas.microsoft.com/office/drawing/2014/main" id="{1EDB6D8C-2B0E-0EBF-77AE-CE9881A9F82F}"/>
              </a:ext>
            </a:extLst>
          </p:cNvPr>
          <p:cNvCxnSpPr>
            <a:cxnSpLocks/>
            <a:stCxn id="145" idx="0"/>
            <a:endCxn id="293" idx="1"/>
          </p:cNvCxnSpPr>
          <p:nvPr/>
        </p:nvCxnSpPr>
        <p:spPr>
          <a:xfrm rot="5400000" flipH="1" flipV="1">
            <a:off x="3518124" y="3409209"/>
            <a:ext cx="126378" cy="623403"/>
          </a:xfrm>
          <a:prstGeom prst="curvedConnector2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구부러진 연결선[U] 301">
            <a:extLst>
              <a:ext uri="{FF2B5EF4-FFF2-40B4-BE49-F238E27FC236}">
                <a16:creationId xmlns:a16="http://schemas.microsoft.com/office/drawing/2014/main" id="{7E28716E-F682-F386-0BB8-50FB24B4A1C7}"/>
              </a:ext>
            </a:extLst>
          </p:cNvPr>
          <p:cNvCxnSpPr>
            <a:cxnSpLocks/>
            <a:stCxn id="294" idx="2"/>
            <a:endCxn id="181" idx="1"/>
          </p:cNvCxnSpPr>
          <p:nvPr/>
        </p:nvCxnSpPr>
        <p:spPr>
          <a:xfrm rot="16200000" flipH="1">
            <a:off x="5508272" y="3342031"/>
            <a:ext cx="172799" cy="1085085"/>
          </a:xfrm>
          <a:prstGeom prst="curvedConnector2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화살표 연결선 308">
            <a:extLst>
              <a:ext uri="{FF2B5EF4-FFF2-40B4-BE49-F238E27FC236}">
                <a16:creationId xmlns:a16="http://schemas.microsoft.com/office/drawing/2014/main" id="{BE0CABC2-BB67-5E86-49A5-03DCC9E0FE54}"/>
              </a:ext>
            </a:extLst>
          </p:cNvPr>
          <p:cNvCxnSpPr>
            <a:stCxn id="294" idx="3"/>
            <a:endCxn id="190" idx="1"/>
          </p:cNvCxnSpPr>
          <p:nvPr/>
        </p:nvCxnSpPr>
        <p:spPr>
          <a:xfrm>
            <a:off x="5196129" y="3654175"/>
            <a:ext cx="2468766" cy="2473"/>
          </a:xfrm>
          <a:prstGeom prst="straightConnector1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3" name="그림 322">
            <a:extLst>
              <a:ext uri="{FF2B5EF4-FFF2-40B4-BE49-F238E27FC236}">
                <a16:creationId xmlns:a16="http://schemas.microsoft.com/office/drawing/2014/main" id="{85BE8A9C-417C-2EC0-FD56-947E58541A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816" y="4777397"/>
            <a:ext cx="288000" cy="288000"/>
          </a:xfrm>
          <a:prstGeom prst="rect">
            <a:avLst/>
          </a:prstGeom>
        </p:spPr>
      </p:pic>
      <p:pic>
        <p:nvPicPr>
          <p:cNvPr id="324" name="그림 323">
            <a:extLst>
              <a:ext uri="{FF2B5EF4-FFF2-40B4-BE49-F238E27FC236}">
                <a16:creationId xmlns:a16="http://schemas.microsoft.com/office/drawing/2014/main" id="{3308734E-EF1E-DA85-E6F9-CEE63EE766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799" y="4777397"/>
            <a:ext cx="288000" cy="28800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726BD85B-697F-B894-F6F7-7326B867988A}"/>
              </a:ext>
            </a:extLst>
          </p:cNvPr>
          <p:cNvGrpSpPr/>
          <p:nvPr/>
        </p:nvGrpSpPr>
        <p:grpSpPr>
          <a:xfrm>
            <a:off x="4057606" y="5766146"/>
            <a:ext cx="815322" cy="365125"/>
            <a:chOff x="10221552" y="5826981"/>
            <a:chExt cx="815322" cy="365125"/>
          </a:xfrm>
        </p:grpSpPr>
        <p:sp>
          <p:nvSpPr>
            <p:cNvPr id="240" name="모서리가 둥근 직사각형 239">
              <a:extLst>
                <a:ext uri="{FF2B5EF4-FFF2-40B4-BE49-F238E27FC236}">
                  <a16:creationId xmlns:a16="http://schemas.microsoft.com/office/drawing/2014/main" id="{83868E47-F3F3-D497-730D-D8A6FC033F74}"/>
                </a:ext>
              </a:extLst>
            </p:cNvPr>
            <p:cNvSpPr/>
            <p:nvPr/>
          </p:nvSpPr>
          <p:spPr>
            <a:xfrm>
              <a:off x="10221553" y="5826981"/>
              <a:ext cx="815321" cy="365125"/>
            </a:xfrm>
            <a:prstGeom prst="roundRect">
              <a:avLst>
                <a:gd name="adj" fmla="val 8311"/>
              </a:avLst>
            </a:prstGeom>
            <a:solidFill>
              <a:srgbClr val="FF8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A21F3F03-681C-519A-8DB2-CB1B6726CEFD}"/>
                </a:ext>
              </a:extLst>
            </p:cNvPr>
            <p:cNvSpPr txBox="1"/>
            <p:nvPr/>
          </p:nvSpPr>
          <p:spPr>
            <a:xfrm>
              <a:off x="10221552" y="5832075"/>
              <a:ext cx="8153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ore-KR" sz="800" b="1" kern="0" dirty="0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Arial" panose="020B0604020202020204" pitchFamily="34" charset="0"/>
                </a:rPr>
                <a:t>Cross Region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ore-KR" sz="800" b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SquareOTF Bold" panose="020B0600000101010101" pitchFamily="34" charset="-127"/>
                  <a:ea typeface="NanumSquareOTF Bold" panose="020B0600000101010101" pitchFamily="34" charset="-127"/>
                  <a:cs typeface="Arial" panose="020B0604020202020204" pitchFamily="34" charset="0"/>
                </a:rPr>
                <a:t>VPC Peering</a:t>
              </a:r>
            </a:p>
          </p:txBody>
        </p: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E0525351-2FFE-B7B6-3D51-BA6DD727566B}"/>
              </a:ext>
            </a:extLst>
          </p:cNvPr>
          <p:cNvSpPr txBox="1"/>
          <p:nvPr/>
        </p:nvSpPr>
        <p:spPr>
          <a:xfrm>
            <a:off x="10239576" y="3548573"/>
            <a:ext cx="9470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ore-KR" sz="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Link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81FE1D5D-7A8A-C2C5-6CAA-063B81A7C42E}"/>
              </a:ext>
            </a:extLst>
          </p:cNvPr>
          <p:cNvSpPr txBox="1"/>
          <p:nvPr/>
        </p:nvSpPr>
        <p:spPr>
          <a:xfrm>
            <a:off x="10342236" y="4018553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ore-KR" sz="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NLB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CCAB59-19A2-8474-8826-0190D7BBA86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318" y="5076743"/>
            <a:ext cx="288000" cy="28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0D22F00-E3B4-7B2E-4B7A-DDBC249A6A8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882" y="5071745"/>
            <a:ext cx="288000" cy="288000"/>
          </a:xfrm>
          <a:prstGeom prst="rect">
            <a:avLst/>
          </a:prstGeom>
        </p:spPr>
      </p:pic>
      <p:cxnSp>
        <p:nvCxnSpPr>
          <p:cNvPr id="9" name="꺾인 연결선[E] 8">
            <a:extLst>
              <a:ext uri="{FF2B5EF4-FFF2-40B4-BE49-F238E27FC236}">
                <a16:creationId xmlns:a16="http://schemas.microsoft.com/office/drawing/2014/main" id="{F136B271-5B07-B60C-33FB-C8A58582016E}"/>
              </a:ext>
            </a:extLst>
          </p:cNvPr>
          <p:cNvCxnSpPr>
            <a:stCxn id="5" idx="2"/>
            <a:endCxn id="315" idx="1"/>
          </p:cNvCxnSpPr>
          <p:nvPr/>
        </p:nvCxnSpPr>
        <p:spPr>
          <a:xfrm rot="16200000" flipH="1">
            <a:off x="2958575" y="4841486"/>
            <a:ext cx="575774" cy="1622288"/>
          </a:xfrm>
          <a:prstGeom prst="bentConnector2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71554A82-1735-4CBB-D2B0-E97929DD9EEE}"/>
              </a:ext>
            </a:extLst>
          </p:cNvPr>
          <p:cNvCxnSpPr>
            <a:cxnSpLocks/>
            <a:stCxn id="6" idx="2"/>
            <a:endCxn id="315" idx="3"/>
          </p:cNvCxnSpPr>
          <p:nvPr/>
        </p:nvCxnSpPr>
        <p:spPr>
          <a:xfrm rot="5400000">
            <a:off x="5449519" y="4783154"/>
            <a:ext cx="580772" cy="1733955"/>
          </a:xfrm>
          <a:prstGeom prst="bentConnector2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49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9D839-B6D7-839E-9310-4A99D343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 </a:t>
            </a:r>
            <a:r>
              <a:rPr kumimoji="1" lang="en-US" altLang="ko-Kore-KR" dirty="0"/>
              <a:t>VPC Endpoint Service </a:t>
            </a:r>
            <a:r>
              <a:rPr kumimoji="1" lang="ko-Kore-KR" altLang="en-US" dirty="0"/>
              <a:t>생성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6154AC-EB94-77B4-C422-5209F377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0D7FC3-E878-481F-A9C8-DA8877AF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1587"/>
            <a:ext cx="4302496" cy="52330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D797A3-142C-1684-F357-E69951E9471B}"/>
              </a:ext>
            </a:extLst>
          </p:cNvPr>
          <p:cNvSpPr txBox="1"/>
          <p:nvPr/>
        </p:nvSpPr>
        <p:spPr>
          <a:xfrm>
            <a:off x="5117000" y="1137145"/>
            <a:ext cx="420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1. </a:t>
            </a: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Service </a:t>
            </a:r>
            <a:r>
              <a:rPr lang="ko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9BCEF-24F2-5178-DDB2-DBEBDC107F2C}"/>
              </a:ext>
            </a:extLst>
          </p:cNvPr>
          <p:cNvSpPr txBox="1"/>
          <p:nvPr/>
        </p:nvSpPr>
        <p:spPr>
          <a:xfrm>
            <a:off x="5347068" y="1428772"/>
            <a:ext cx="5464150" cy="1030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Loadbalancer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Type : Network (NLB)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Available Load Balancer :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기존 생성된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NLB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NLB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의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확인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30DF4B-5436-7F95-87F7-E02AAC05A7DC}"/>
              </a:ext>
            </a:extLst>
          </p:cNvPr>
          <p:cNvSpPr txBox="1"/>
          <p:nvPr/>
        </p:nvSpPr>
        <p:spPr>
          <a:xfrm>
            <a:off x="5117000" y="2698741"/>
            <a:ext cx="420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Note. </a:t>
            </a: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Service </a:t>
            </a:r>
            <a:r>
              <a:rPr lang="ko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C1FEFC-98B0-810E-9300-48B453984A06}"/>
              </a:ext>
            </a:extLst>
          </p:cNvPr>
          <p:cNvSpPr txBox="1"/>
          <p:nvPr/>
        </p:nvSpPr>
        <p:spPr>
          <a:xfrm>
            <a:off x="5347068" y="2990368"/>
            <a:ext cx="5464150" cy="1030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SaaS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를 제공하는 대부분의 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Provider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는 사전에 생성되어 있음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Consumer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는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SaaS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가 제공하는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FQDN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만 알고 있으면 됨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410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9D839-B6D7-839E-9310-4A99D343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 </a:t>
            </a:r>
            <a:r>
              <a:rPr kumimoji="1" lang="en-US" altLang="ko-Kore-KR" dirty="0"/>
              <a:t>VPC Endpoint Service </a:t>
            </a:r>
            <a:r>
              <a:rPr kumimoji="1" lang="ko-Kore-KR" altLang="en-US" dirty="0"/>
              <a:t>생성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6154AC-EB94-77B4-C422-5209F377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E314C2-1E39-D29A-40CC-1999EA60B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34605"/>
            <a:ext cx="7772400" cy="2827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EF4B8F-40D2-DB47-7A2A-1FECDD2E2FAC}"/>
              </a:ext>
            </a:extLst>
          </p:cNvPr>
          <p:cNvSpPr txBox="1"/>
          <p:nvPr/>
        </p:nvSpPr>
        <p:spPr>
          <a:xfrm>
            <a:off x="5117000" y="4306904"/>
            <a:ext cx="420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2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 </a:t>
            </a: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Service </a:t>
            </a:r>
            <a:r>
              <a:rPr lang="ko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 확인 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949F9-73F4-AE9C-9BBE-32CFA645B288}"/>
              </a:ext>
            </a:extLst>
          </p:cNvPr>
          <p:cNvSpPr txBox="1"/>
          <p:nvPr/>
        </p:nvSpPr>
        <p:spPr>
          <a:xfrm>
            <a:off x="5347068" y="4598531"/>
            <a:ext cx="5464150" cy="384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생성된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Service Name 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확인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91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F7A52-CD6F-10DC-2551-937BCFE4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</a:t>
            </a:r>
            <a:r>
              <a:rPr kumimoji="1" lang="en-US" altLang="ko-Kore-KR" dirty="0"/>
              <a:t>VPC Endpoint </a:t>
            </a:r>
            <a:r>
              <a:rPr kumimoji="1" lang="ko-Kore-KR" altLang="en-US" dirty="0"/>
              <a:t>생성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DEBAAE7-64A8-282E-C2F7-68D2B63C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C59659-4F78-23E3-E4E1-7B43AD302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58543"/>
            <a:ext cx="6641534" cy="13173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39D423A-0E1A-6096-C1B8-A411E6F4B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23659"/>
            <a:ext cx="6641534" cy="19772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CB8D63-8C9C-A8EB-1C2A-708B1BB5311D}"/>
              </a:ext>
            </a:extLst>
          </p:cNvPr>
          <p:cNvSpPr txBox="1"/>
          <p:nvPr/>
        </p:nvSpPr>
        <p:spPr>
          <a:xfrm>
            <a:off x="7251134" y="1223659"/>
            <a:ext cx="420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1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 </a:t>
            </a: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</a:t>
            </a:r>
            <a:r>
              <a:rPr lang="ko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C90E3-DF3F-9258-D58D-B34C70286BC4}"/>
              </a:ext>
            </a:extLst>
          </p:cNvPr>
          <p:cNvSpPr txBox="1"/>
          <p:nvPr/>
        </p:nvSpPr>
        <p:spPr>
          <a:xfrm>
            <a:off x="7481202" y="1515286"/>
            <a:ext cx="4522482" cy="1353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Provider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생성된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Endpoint Service Name 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입력</a:t>
            </a:r>
            <a:endParaRPr lang="en-US" altLang="ko-Kore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SaaS Provider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가 제공할 경우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”</a:t>
            </a:r>
            <a:r>
              <a:rPr lang="en-US" altLang="ko-KR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PrivateLink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Ready partner Services”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 후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제공한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Service Name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입력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16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9D839-B6D7-839E-9310-4A99D343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en-US" altLang="ko-Kore-KR" dirty="0"/>
              <a:t>VPC Endpoint </a:t>
            </a:r>
            <a:r>
              <a:rPr kumimoji="1" lang="ko-Kore-KR" altLang="en-US" dirty="0"/>
              <a:t>생성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6154AC-EB94-77B4-C422-5209F377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BDF15A-FA59-77D9-88AC-8FDFEA1B1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99628"/>
            <a:ext cx="6693952" cy="32582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DE1AE-EA6A-6B04-D6CF-D5BFE085F647}"/>
              </a:ext>
            </a:extLst>
          </p:cNvPr>
          <p:cNvSpPr txBox="1"/>
          <p:nvPr/>
        </p:nvSpPr>
        <p:spPr>
          <a:xfrm>
            <a:off x="7251134" y="1223659"/>
            <a:ext cx="420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1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 </a:t>
            </a: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</a:t>
            </a:r>
            <a:r>
              <a:rPr lang="ko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DBEC5-41DE-CC34-419D-264EAF9C357A}"/>
              </a:ext>
            </a:extLst>
          </p:cNvPr>
          <p:cNvSpPr txBox="1"/>
          <p:nvPr/>
        </p:nvSpPr>
        <p:spPr>
          <a:xfrm>
            <a:off x="7481202" y="1515286"/>
            <a:ext cx="4522482" cy="1030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 startAt="3"/>
              <a:defRPr/>
            </a:pP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가 생성될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</a:t>
            </a:r>
            <a:endParaRPr lang="en-US" altLang="ko-Kore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 startAt="3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가 생성될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Subnet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 startAt="3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를 위한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Security Group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21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E1454-FECE-3E6C-E02E-335039B41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en-US" altLang="ko-Kore-KR" dirty="0"/>
              <a:t>VPC Endpoint </a:t>
            </a:r>
            <a:r>
              <a:rPr kumimoji="1" lang="ko-Kore-KR" altLang="en-US" dirty="0"/>
              <a:t>생성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06E94B5-ED89-13B5-BF39-1C1C9F13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165951-A9D7-1D16-F848-83FF03264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84999"/>
            <a:ext cx="6641534" cy="2768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C4DB61-DD95-E53D-EF58-E3D061594FC0}"/>
              </a:ext>
            </a:extLst>
          </p:cNvPr>
          <p:cNvSpPr txBox="1"/>
          <p:nvPr/>
        </p:nvSpPr>
        <p:spPr>
          <a:xfrm>
            <a:off x="7251134" y="1223659"/>
            <a:ext cx="420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2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 </a:t>
            </a: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</a:t>
            </a:r>
            <a:r>
              <a:rPr lang="ko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 확인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FBF1B-354C-EE33-8C36-B7A080D13DC1}"/>
              </a:ext>
            </a:extLst>
          </p:cNvPr>
          <p:cNvSpPr txBox="1"/>
          <p:nvPr/>
        </p:nvSpPr>
        <p:spPr>
          <a:xfrm>
            <a:off x="7481202" y="1515286"/>
            <a:ext cx="4522482" cy="707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확인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대표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DNS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이름 확인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57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13C13-EF4F-70BC-8678-381C8399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en-US" altLang="ko-Kore-KR" dirty="0"/>
              <a:t>TGW Peering </a:t>
            </a:r>
            <a:r>
              <a:rPr kumimoji="1" lang="ko-Kore-KR" altLang="en-US" dirty="0"/>
              <a:t>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BC7369-1081-0A8D-47B7-925220F9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1" name="Rectangle 5">
            <a:extLst>
              <a:ext uri="{FF2B5EF4-FFF2-40B4-BE49-F238E27FC236}">
                <a16:creationId xmlns:a16="http://schemas.microsoft.com/office/drawing/2014/main" id="{6AC60D9D-1819-4323-B876-805B4F37C592}"/>
              </a:ext>
            </a:extLst>
          </p:cNvPr>
          <p:cNvSpPr/>
          <p:nvPr/>
        </p:nvSpPr>
        <p:spPr bwMode="auto">
          <a:xfrm>
            <a:off x="800232" y="1588349"/>
            <a:ext cx="1541188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65" name="Graphic 38">
            <a:extLst>
              <a:ext uri="{FF2B5EF4-FFF2-40B4-BE49-F238E27FC236}">
                <a16:creationId xmlns:a16="http://schemas.microsoft.com/office/drawing/2014/main" id="{C31F2E33-66C1-C1B2-74CD-FCF6A603E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8220" y="1831716"/>
            <a:ext cx="381000" cy="381000"/>
          </a:xfrm>
          <a:prstGeom prst="rect">
            <a:avLst/>
          </a:prstGeom>
        </p:spPr>
      </p:pic>
      <p:sp>
        <p:nvSpPr>
          <p:cNvPr id="94" name="Rectangle 7">
            <a:extLst>
              <a:ext uri="{FF2B5EF4-FFF2-40B4-BE49-F238E27FC236}">
                <a16:creationId xmlns:a16="http://schemas.microsoft.com/office/drawing/2014/main" id="{C404D20E-7BA6-33A3-B4A6-3E6CA17CB0E1}"/>
              </a:ext>
            </a:extLst>
          </p:cNvPr>
          <p:cNvSpPr/>
          <p:nvPr/>
        </p:nvSpPr>
        <p:spPr>
          <a:xfrm>
            <a:off x="847107" y="3266575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95" name="Graphic 21">
            <a:extLst>
              <a:ext uri="{FF2B5EF4-FFF2-40B4-BE49-F238E27FC236}">
                <a16:creationId xmlns:a16="http://schemas.microsoft.com/office/drawing/2014/main" id="{0F94B313-EBF6-B446-024C-9AEA71647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7107" y="3266575"/>
            <a:ext cx="381000" cy="381000"/>
          </a:xfrm>
          <a:prstGeom prst="rect">
            <a:avLst/>
          </a:prstGeom>
        </p:spPr>
      </p:pic>
      <p:sp>
        <p:nvSpPr>
          <p:cNvPr id="98" name="Rectangle 8">
            <a:extLst>
              <a:ext uri="{FF2B5EF4-FFF2-40B4-BE49-F238E27FC236}">
                <a16:creationId xmlns:a16="http://schemas.microsoft.com/office/drawing/2014/main" id="{54BD63B2-52CB-623B-BFD4-4F735BDB85D6}"/>
              </a:ext>
            </a:extLst>
          </p:cNvPr>
          <p:cNvSpPr/>
          <p:nvPr/>
        </p:nvSpPr>
        <p:spPr>
          <a:xfrm>
            <a:off x="248463" y="1253386"/>
            <a:ext cx="4052024" cy="4202113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ysDash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(ap-northeast-2)</a:t>
            </a:r>
          </a:p>
        </p:txBody>
      </p:sp>
      <p:pic>
        <p:nvPicPr>
          <p:cNvPr id="99" name="Graphic 25">
            <a:extLst>
              <a:ext uri="{FF2B5EF4-FFF2-40B4-BE49-F238E27FC236}">
                <a16:creationId xmlns:a16="http://schemas.microsoft.com/office/drawing/2014/main" id="{5B905F52-A040-4848-01B1-69247F5D10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48463" y="1253386"/>
            <a:ext cx="381000" cy="381000"/>
          </a:xfrm>
          <a:prstGeom prst="rect">
            <a:avLst/>
          </a:prstGeom>
        </p:spPr>
      </p:pic>
      <p:sp>
        <p:nvSpPr>
          <p:cNvPr id="102" name="Rectangle 32">
            <a:extLst>
              <a:ext uri="{FF2B5EF4-FFF2-40B4-BE49-F238E27FC236}">
                <a16:creationId xmlns:a16="http://schemas.microsoft.com/office/drawing/2014/main" id="{4ADC3889-4E4F-622F-0EAE-D7E5D54AE4DA}"/>
              </a:ext>
            </a:extLst>
          </p:cNvPr>
          <p:cNvSpPr/>
          <p:nvPr/>
        </p:nvSpPr>
        <p:spPr>
          <a:xfrm>
            <a:off x="847107" y="2314072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03" name="Graphic 19">
            <a:extLst>
              <a:ext uri="{FF2B5EF4-FFF2-40B4-BE49-F238E27FC236}">
                <a16:creationId xmlns:a16="http://schemas.microsoft.com/office/drawing/2014/main" id="{AC7EBFFC-2627-8577-08B5-2D4C7DD4D4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7107" y="2314072"/>
            <a:ext cx="381000" cy="3810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7A7B9EBE-67A4-DFDE-C839-CB0E9AF377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07" y="2832987"/>
            <a:ext cx="288000" cy="288000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2B4E27CF-074B-8DC1-7085-D466713EFA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232" y="2838359"/>
            <a:ext cx="288000" cy="288000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783A5A2F-33AC-E299-9326-1B14E4B764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493" y="2834047"/>
            <a:ext cx="288000" cy="288000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1E0C0D15-9BD0-2FD1-6F8D-EF76BCE410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40" y="3783039"/>
            <a:ext cx="288000" cy="288000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AF1329DB-95CD-5378-351E-98466F91F3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426" y="3784099"/>
            <a:ext cx="288000" cy="288000"/>
          </a:xfrm>
          <a:prstGeom prst="rect">
            <a:avLst/>
          </a:prstGeom>
        </p:spPr>
      </p:pic>
      <p:sp>
        <p:nvSpPr>
          <p:cNvPr id="116" name="Rectangle 7">
            <a:extLst>
              <a:ext uri="{FF2B5EF4-FFF2-40B4-BE49-F238E27FC236}">
                <a16:creationId xmlns:a16="http://schemas.microsoft.com/office/drawing/2014/main" id="{896AEDE0-BD57-B13F-D9B8-B675804BD16C}"/>
              </a:ext>
            </a:extLst>
          </p:cNvPr>
          <p:cNvSpPr/>
          <p:nvPr/>
        </p:nvSpPr>
        <p:spPr>
          <a:xfrm>
            <a:off x="847107" y="4238005"/>
            <a:ext cx="1412773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EF66D1B6-7B2B-C1B7-3530-16C7F1535C3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47107" y="4238005"/>
            <a:ext cx="381000" cy="3937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4122A110-5010-686D-74F5-2779909F7A7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232" y="4730423"/>
            <a:ext cx="288000" cy="288000"/>
          </a:xfrm>
          <a:prstGeom prst="rect">
            <a:avLst/>
          </a:prstGeom>
        </p:spPr>
      </p:pic>
      <p:sp>
        <p:nvSpPr>
          <p:cNvPr id="136" name="Rectangle 5">
            <a:extLst>
              <a:ext uri="{FF2B5EF4-FFF2-40B4-BE49-F238E27FC236}">
                <a16:creationId xmlns:a16="http://schemas.microsoft.com/office/drawing/2014/main" id="{D7DD5C1D-0BDA-38EC-4CD2-4F2B4770F16B}"/>
              </a:ext>
            </a:extLst>
          </p:cNvPr>
          <p:cNvSpPr/>
          <p:nvPr/>
        </p:nvSpPr>
        <p:spPr bwMode="auto">
          <a:xfrm>
            <a:off x="2516418" y="1588349"/>
            <a:ext cx="1541188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137" name="Rectangle 7">
            <a:extLst>
              <a:ext uri="{FF2B5EF4-FFF2-40B4-BE49-F238E27FC236}">
                <a16:creationId xmlns:a16="http://schemas.microsoft.com/office/drawing/2014/main" id="{565FC914-C099-0869-4F26-454911D0EA12}"/>
              </a:ext>
            </a:extLst>
          </p:cNvPr>
          <p:cNvSpPr/>
          <p:nvPr/>
        </p:nvSpPr>
        <p:spPr>
          <a:xfrm>
            <a:off x="2563293" y="3266575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38" name="Graphic 21">
            <a:extLst>
              <a:ext uri="{FF2B5EF4-FFF2-40B4-BE49-F238E27FC236}">
                <a16:creationId xmlns:a16="http://schemas.microsoft.com/office/drawing/2014/main" id="{F835D225-8EA6-A1E8-F0E1-62CEA75E8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563293" y="3266575"/>
            <a:ext cx="381000" cy="381000"/>
          </a:xfrm>
          <a:prstGeom prst="rect">
            <a:avLst/>
          </a:prstGeom>
        </p:spPr>
      </p:pic>
      <p:sp>
        <p:nvSpPr>
          <p:cNvPr id="139" name="Rectangle 32">
            <a:extLst>
              <a:ext uri="{FF2B5EF4-FFF2-40B4-BE49-F238E27FC236}">
                <a16:creationId xmlns:a16="http://schemas.microsoft.com/office/drawing/2014/main" id="{B412F37B-202E-B048-29B0-BC2B1A5A25C6}"/>
              </a:ext>
            </a:extLst>
          </p:cNvPr>
          <p:cNvSpPr/>
          <p:nvPr/>
        </p:nvSpPr>
        <p:spPr>
          <a:xfrm>
            <a:off x="2563293" y="2314072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40" name="Graphic 19">
            <a:extLst>
              <a:ext uri="{FF2B5EF4-FFF2-40B4-BE49-F238E27FC236}">
                <a16:creationId xmlns:a16="http://schemas.microsoft.com/office/drawing/2014/main" id="{01AA976E-E805-5A53-266B-B29F30D721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563293" y="2314072"/>
            <a:ext cx="381000" cy="381000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5B470887-F706-B3F4-F201-EAF38A0CD6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93" y="2832987"/>
            <a:ext cx="288000" cy="288000"/>
          </a:xfrm>
          <a:prstGeom prst="rect">
            <a:avLst/>
          </a:prstGeom>
        </p:spPr>
      </p:pic>
      <p:pic>
        <p:nvPicPr>
          <p:cNvPr id="142" name="그림 141">
            <a:extLst>
              <a:ext uri="{FF2B5EF4-FFF2-40B4-BE49-F238E27FC236}">
                <a16:creationId xmlns:a16="http://schemas.microsoft.com/office/drawing/2014/main" id="{394DDA8A-64C6-FC0D-85F3-1308248040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418" y="2838359"/>
            <a:ext cx="288000" cy="288000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DFC624B1-874E-73B0-90AD-A5F6EBCE3D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679" y="2834047"/>
            <a:ext cx="288000" cy="288000"/>
          </a:xfrm>
          <a:prstGeom prst="rect">
            <a:avLst/>
          </a:prstGeom>
        </p:spPr>
      </p:pic>
      <p:pic>
        <p:nvPicPr>
          <p:cNvPr id="144" name="그림 143">
            <a:extLst>
              <a:ext uri="{FF2B5EF4-FFF2-40B4-BE49-F238E27FC236}">
                <a16:creationId xmlns:a16="http://schemas.microsoft.com/office/drawing/2014/main" id="{8F229806-DB41-EF1C-1D85-F46D74913A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26" y="3783039"/>
            <a:ext cx="288000" cy="288000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3F124309-EB48-B7B1-F4DF-9B8B35A7FB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612" y="3784099"/>
            <a:ext cx="288000" cy="288000"/>
          </a:xfrm>
          <a:prstGeom prst="rect">
            <a:avLst/>
          </a:prstGeom>
        </p:spPr>
      </p:pic>
      <p:sp>
        <p:nvSpPr>
          <p:cNvPr id="146" name="Rectangle 7">
            <a:extLst>
              <a:ext uri="{FF2B5EF4-FFF2-40B4-BE49-F238E27FC236}">
                <a16:creationId xmlns:a16="http://schemas.microsoft.com/office/drawing/2014/main" id="{9FC25A90-B724-1CD3-4AD3-435BD8F7FB11}"/>
              </a:ext>
            </a:extLst>
          </p:cNvPr>
          <p:cNvSpPr/>
          <p:nvPr/>
        </p:nvSpPr>
        <p:spPr>
          <a:xfrm>
            <a:off x="2563293" y="4238005"/>
            <a:ext cx="1412773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47" name="그림 146">
            <a:extLst>
              <a:ext uri="{FF2B5EF4-FFF2-40B4-BE49-F238E27FC236}">
                <a16:creationId xmlns:a16="http://schemas.microsoft.com/office/drawing/2014/main" id="{218CF009-811B-5713-5E18-79FB5F48B21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63293" y="4238005"/>
            <a:ext cx="381000" cy="393700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81611DDE-382D-4716-FB80-ADE7DE877D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418" y="4730423"/>
            <a:ext cx="288000" cy="288000"/>
          </a:xfrm>
          <a:prstGeom prst="rect">
            <a:avLst/>
          </a:prstGeom>
        </p:spPr>
      </p:pic>
      <p:sp>
        <p:nvSpPr>
          <p:cNvPr id="60" name="Rectangle 3">
            <a:extLst>
              <a:ext uri="{FF2B5EF4-FFF2-40B4-BE49-F238E27FC236}">
                <a16:creationId xmlns:a16="http://schemas.microsoft.com/office/drawing/2014/main" id="{5457C313-BC17-12BA-7FE6-2CFE0437CD73}"/>
              </a:ext>
            </a:extLst>
          </p:cNvPr>
          <p:cNvSpPr/>
          <p:nvPr/>
        </p:nvSpPr>
        <p:spPr bwMode="auto">
          <a:xfrm>
            <a:off x="376632" y="1834411"/>
            <a:ext cx="3795684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ICN VPC (10.11)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49" name="Rectangle 5">
            <a:extLst>
              <a:ext uri="{FF2B5EF4-FFF2-40B4-BE49-F238E27FC236}">
                <a16:creationId xmlns:a16="http://schemas.microsoft.com/office/drawing/2014/main" id="{1FA9297A-3F61-8B76-D821-E4BAF3CB2773}"/>
              </a:ext>
            </a:extLst>
          </p:cNvPr>
          <p:cNvSpPr/>
          <p:nvPr/>
        </p:nvSpPr>
        <p:spPr bwMode="auto">
          <a:xfrm>
            <a:off x="5116214" y="1588349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150" name="Graphic 38">
            <a:extLst>
              <a:ext uri="{FF2B5EF4-FFF2-40B4-BE49-F238E27FC236}">
                <a16:creationId xmlns:a16="http://schemas.microsoft.com/office/drawing/2014/main" id="{31111D4A-77FA-6A13-54A3-35AA67CA2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68143" y="1831716"/>
            <a:ext cx="381000" cy="381000"/>
          </a:xfrm>
          <a:prstGeom prst="rect">
            <a:avLst/>
          </a:prstGeom>
        </p:spPr>
      </p:pic>
      <p:sp>
        <p:nvSpPr>
          <p:cNvPr id="151" name="Rectangle 7">
            <a:extLst>
              <a:ext uri="{FF2B5EF4-FFF2-40B4-BE49-F238E27FC236}">
                <a16:creationId xmlns:a16="http://schemas.microsoft.com/office/drawing/2014/main" id="{6E31D0BD-E377-C3FA-AC8C-D7609A1BC8A5}"/>
              </a:ext>
            </a:extLst>
          </p:cNvPr>
          <p:cNvSpPr/>
          <p:nvPr/>
        </p:nvSpPr>
        <p:spPr>
          <a:xfrm>
            <a:off x="5163089" y="3266575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52" name="Graphic 21">
            <a:extLst>
              <a:ext uri="{FF2B5EF4-FFF2-40B4-BE49-F238E27FC236}">
                <a16:creationId xmlns:a16="http://schemas.microsoft.com/office/drawing/2014/main" id="{00D85D64-B0C2-7C98-5FEB-3D0C8BAF5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163089" y="3266575"/>
            <a:ext cx="381000" cy="381000"/>
          </a:xfrm>
          <a:prstGeom prst="rect">
            <a:avLst/>
          </a:prstGeom>
        </p:spPr>
      </p:pic>
      <p:sp>
        <p:nvSpPr>
          <p:cNvPr id="153" name="Rectangle 8">
            <a:extLst>
              <a:ext uri="{FF2B5EF4-FFF2-40B4-BE49-F238E27FC236}">
                <a16:creationId xmlns:a16="http://schemas.microsoft.com/office/drawing/2014/main" id="{2A924578-152A-0D0D-2EFE-5AB02941E465}"/>
              </a:ext>
            </a:extLst>
          </p:cNvPr>
          <p:cNvSpPr/>
          <p:nvPr/>
        </p:nvSpPr>
        <p:spPr>
          <a:xfrm>
            <a:off x="4538385" y="1253386"/>
            <a:ext cx="7360551" cy="4202113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ysDash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(ap-south-1)</a:t>
            </a:r>
          </a:p>
        </p:txBody>
      </p:sp>
      <p:pic>
        <p:nvPicPr>
          <p:cNvPr id="154" name="Graphic 25">
            <a:extLst>
              <a:ext uri="{FF2B5EF4-FFF2-40B4-BE49-F238E27FC236}">
                <a16:creationId xmlns:a16="http://schemas.microsoft.com/office/drawing/2014/main" id="{FA6AB60A-2C57-35E4-C07C-18A4C02CB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538386" y="1253386"/>
            <a:ext cx="381000" cy="381000"/>
          </a:xfrm>
          <a:prstGeom prst="rect">
            <a:avLst/>
          </a:prstGeom>
        </p:spPr>
      </p:pic>
      <p:sp>
        <p:nvSpPr>
          <p:cNvPr id="155" name="Rectangle 32">
            <a:extLst>
              <a:ext uri="{FF2B5EF4-FFF2-40B4-BE49-F238E27FC236}">
                <a16:creationId xmlns:a16="http://schemas.microsoft.com/office/drawing/2014/main" id="{8D052E67-D098-45DD-4C9C-1FBD6419BD09}"/>
              </a:ext>
            </a:extLst>
          </p:cNvPr>
          <p:cNvSpPr/>
          <p:nvPr/>
        </p:nvSpPr>
        <p:spPr>
          <a:xfrm>
            <a:off x="5163089" y="2314072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56" name="Graphic 19">
            <a:extLst>
              <a:ext uri="{FF2B5EF4-FFF2-40B4-BE49-F238E27FC236}">
                <a16:creationId xmlns:a16="http://schemas.microsoft.com/office/drawing/2014/main" id="{F4384800-4981-F2B3-C5F7-8E2E4271C0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163089" y="2314072"/>
            <a:ext cx="381000" cy="381000"/>
          </a:xfrm>
          <a:prstGeom prst="rect">
            <a:avLst/>
          </a:prstGeom>
        </p:spPr>
      </p:pic>
      <p:sp>
        <p:nvSpPr>
          <p:cNvPr id="162" name="Rectangle 7">
            <a:extLst>
              <a:ext uri="{FF2B5EF4-FFF2-40B4-BE49-F238E27FC236}">
                <a16:creationId xmlns:a16="http://schemas.microsoft.com/office/drawing/2014/main" id="{DF1DD7DE-2678-4310-0FCF-ED0884C028DB}"/>
              </a:ext>
            </a:extLst>
          </p:cNvPr>
          <p:cNvSpPr/>
          <p:nvPr/>
        </p:nvSpPr>
        <p:spPr>
          <a:xfrm>
            <a:off x="5163089" y="4238005"/>
            <a:ext cx="1310541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63" name="그림 162">
            <a:extLst>
              <a:ext uri="{FF2B5EF4-FFF2-40B4-BE49-F238E27FC236}">
                <a16:creationId xmlns:a16="http://schemas.microsoft.com/office/drawing/2014/main" id="{7B6BDB54-ED43-AF95-586A-DD3AF7C4450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63089" y="4238005"/>
            <a:ext cx="381000" cy="393700"/>
          </a:xfrm>
          <a:prstGeom prst="rect">
            <a:avLst/>
          </a:prstGeom>
        </p:spPr>
      </p:pic>
      <p:sp>
        <p:nvSpPr>
          <p:cNvPr id="178" name="Rectangle 3">
            <a:extLst>
              <a:ext uri="{FF2B5EF4-FFF2-40B4-BE49-F238E27FC236}">
                <a16:creationId xmlns:a16="http://schemas.microsoft.com/office/drawing/2014/main" id="{50E0F3BF-0571-37FE-9C60-57AA5126F559}"/>
              </a:ext>
            </a:extLst>
          </p:cNvPr>
          <p:cNvSpPr/>
          <p:nvPr/>
        </p:nvSpPr>
        <p:spPr bwMode="auto">
          <a:xfrm>
            <a:off x="4666556" y="1834411"/>
            <a:ext cx="3487418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BOM VPC (10.12)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DD902A86-B40E-86DE-6FF2-C52B0E087C9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214" y="3826974"/>
            <a:ext cx="288000" cy="288000"/>
          </a:xfrm>
          <a:prstGeom prst="rect">
            <a:avLst/>
          </a:prstGeom>
        </p:spPr>
      </p:pic>
      <p:sp>
        <p:nvSpPr>
          <p:cNvPr id="182" name="Rectangle 5">
            <a:extLst>
              <a:ext uri="{FF2B5EF4-FFF2-40B4-BE49-F238E27FC236}">
                <a16:creationId xmlns:a16="http://schemas.microsoft.com/office/drawing/2014/main" id="{24AE602C-FEA9-3852-3BA4-2966F153B5E4}"/>
              </a:ext>
            </a:extLst>
          </p:cNvPr>
          <p:cNvSpPr/>
          <p:nvPr/>
        </p:nvSpPr>
        <p:spPr bwMode="auto">
          <a:xfrm>
            <a:off x="6646938" y="1587661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183" name="Rectangle 7">
            <a:extLst>
              <a:ext uri="{FF2B5EF4-FFF2-40B4-BE49-F238E27FC236}">
                <a16:creationId xmlns:a16="http://schemas.microsoft.com/office/drawing/2014/main" id="{426B4AD8-FDC2-A43C-8BB2-202F320D50F5}"/>
              </a:ext>
            </a:extLst>
          </p:cNvPr>
          <p:cNvSpPr/>
          <p:nvPr/>
        </p:nvSpPr>
        <p:spPr>
          <a:xfrm>
            <a:off x="6693813" y="3265887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84" name="Graphic 21">
            <a:extLst>
              <a:ext uri="{FF2B5EF4-FFF2-40B4-BE49-F238E27FC236}">
                <a16:creationId xmlns:a16="http://schemas.microsoft.com/office/drawing/2014/main" id="{1D65A402-983B-2DCD-73D5-C951EB88F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693813" y="3265887"/>
            <a:ext cx="381000" cy="381000"/>
          </a:xfrm>
          <a:prstGeom prst="rect">
            <a:avLst/>
          </a:prstGeom>
        </p:spPr>
      </p:pic>
      <p:sp>
        <p:nvSpPr>
          <p:cNvPr id="185" name="Rectangle 32">
            <a:extLst>
              <a:ext uri="{FF2B5EF4-FFF2-40B4-BE49-F238E27FC236}">
                <a16:creationId xmlns:a16="http://schemas.microsoft.com/office/drawing/2014/main" id="{9B7C0D99-BFCF-D553-B3FB-B816DE4FB3F9}"/>
              </a:ext>
            </a:extLst>
          </p:cNvPr>
          <p:cNvSpPr/>
          <p:nvPr/>
        </p:nvSpPr>
        <p:spPr>
          <a:xfrm>
            <a:off x="6693813" y="2313384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86" name="Graphic 19">
            <a:extLst>
              <a:ext uri="{FF2B5EF4-FFF2-40B4-BE49-F238E27FC236}">
                <a16:creationId xmlns:a16="http://schemas.microsoft.com/office/drawing/2014/main" id="{D02C6D07-D4CE-CCD8-2AAA-904C50EAE7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693813" y="2313384"/>
            <a:ext cx="381000" cy="381000"/>
          </a:xfrm>
          <a:prstGeom prst="rect">
            <a:avLst/>
          </a:prstGeom>
        </p:spPr>
      </p:pic>
      <p:sp>
        <p:nvSpPr>
          <p:cNvPr id="187" name="Rectangle 7">
            <a:extLst>
              <a:ext uri="{FF2B5EF4-FFF2-40B4-BE49-F238E27FC236}">
                <a16:creationId xmlns:a16="http://schemas.microsoft.com/office/drawing/2014/main" id="{CADECA99-2CDF-7FC8-45CD-D875550F8118}"/>
              </a:ext>
            </a:extLst>
          </p:cNvPr>
          <p:cNvSpPr/>
          <p:nvPr/>
        </p:nvSpPr>
        <p:spPr>
          <a:xfrm>
            <a:off x="6693813" y="4237317"/>
            <a:ext cx="1310541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88" name="그림 187">
            <a:extLst>
              <a:ext uri="{FF2B5EF4-FFF2-40B4-BE49-F238E27FC236}">
                <a16:creationId xmlns:a16="http://schemas.microsoft.com/office/drawing/2014/main" id="{197DC06E-55A5-1A05-C069-4866CC63FA4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93813" y="4237317"/>
            <a:ext cx="381000" cy="393700"/>
          </a:xfrm>
          <a:prstGeom prst="rect">
            <a:avLst/>
          </a:prstGeom>
        </p:spPr>
      </p:pic>
      <p:pic>
        <p:nvPicPr>
          <p:cNvPr id="190" name="그림 189">
            <a:extLst>
              <a:ext uri="{FF2B5EF4-FFF2-40B4-BE49-F238E27FC236}">
                <a16:creationId xmlns:a16="http://schemas.microsoft.com/office/drawing/2014/main" id="{F810788F-B458-B4EB-AD42-A887A40E79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895" y="3512648"/>
            <a:ext cx="288000" cy="288000"/>
          </a:xfrm>
          <a:prstGeom prst="rect">
            <a:avLst/>
          </a:prstGeom>
        </p:spPr>
      </p:pic>
      <p:sp>
        <p:nvSpPr>
          <p:cNvPr id="211" name="Rectangle 5">
            <a:extLst>
              <a:ext uri="{FF2B5EF4-FFF2-40B4-BE49-F238E27FC236}">
                <a16:creationId xmlns:a16="http://schemas.microsoft.com/office/drawing/2014/main" id="{8F74F790-1D13-05E9-EDC6-A94F006F3A77}"/>
              </a:ext>
            </a:extLst>
          </p:cNvPr>
          <p:cNvSpPr/>
          <p:nvPr/>
        </p:nvSpPr>
        <p:spPr bwMode="auto">
          <a:xfrm>
            <a:off x="8775923" y="1588349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212" name="Graphic 38">
            <a:extLst>
              <a:ext uri="{FF2B5EF4-FFF2-40B4-BE49-F238E27FC236}">
                <a16:creationId xmlns:a16="http://schemas.microsoft.com/office/drawing/2014/main" id="{5B11F82D-C208-EDF3-ED57-50CF0CF88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27852" y="1831716"/>
            <a:ext cx="381000" cy="381000"/>
          </a:xfrm>
          <a:prstGeom prst="rect">
            <a:avLst/>
          </a:prstGeom>
        </p:spPr>
      </p:pic>
      <p:sp>
        <p:nvSpPr>
          <p:cNvPr id="213" name="Rectangle 7">
            <a:extLst>
              <a:ext uri="{FF2B5EF4-FFF2-40B4-BE49-F238E27FC236}">
                <a16:creationId xmlns:a16="http://schemas.microsoft.com/office/drawing/2014/main" id="{940040CA-E100-EE55-897E-DAA3F479ADE6}"/>
              </a:ext>
            </a:extLst>
          </p:cNvPr>
          <p:cNvSpPr/>
          <p:nvPr/>
        </p:nvSpPr>
        <p:spPr>
          <a:xfrm>
            <a:off x="8822798" y="4468267"/>
            <a:ext cx="1310541" cy="65805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14" name="Graphic 21">
            <a:extLst>
              <a:ext uri="{FF2B5EF4-FFF2-40B4-BE49-F238E27FC236}">
                <a16:creationId xmlns:a16="http://schemas.microsoft.com/office/drawing/2014/main" id="{331320ED-A022-065D-156E-90B0A1734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822798" y="4466407"/>
            <a:ext cx="381000" cy="381000"/>
          </a:xfrm>
          <a:prstGeom prst="rect">
            <a:avLst/>
          </a:prstGeom>
        </p:spPr>
      </p:pic>
      <p:sp>
        <p:nvSpPr>
          <p:cNvPr id="220" name="Rectangle 3">
            <a:extLst>
              <a:ext uri="{FF2B5EF4-FFF2-40B4-BE49-F238E27FC236}">
                <a16:creationId xmlns:a16="http://schemas.microsoft.com/office/drawing/2014/main" id="{756C14A9-A20E-AB92-4BA8-E295FB6AE96D}"/>
              </a:ext>
            </a:extLst>
          </p:cNvPr>
          <p:cNvSpPr/>
          <p:nvPr/>
        </p:nvSpPr>
        <p:spPr bwMode="auto">
          <a:xfrm>
            <a:off x="8326265" y="1834411"/>
            <a:ext cx="3487418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SaaS VPC (10.13)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(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e.g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DataDog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, 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Poralis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…)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22" name="Rectangle 5">
            <a:extLst>
              <a:ext uri="{FF2B5EF4-FFF2-40B4-BE49-F238E27FC236}">
                <a16:creationId xmlns:a16="http://schemas.microsoft.com/office/drawing/2014/main" id="{CE80252C-932C-24C4-014B-F5257BE23FCA}"/>
              </a:ext>
            </a:extLst>
          </p:cNvPr>
          <p:cNvSpPr/>
          <p:nvPr/>
        </p:nvSpPr>
        <p:spPr bwMode="auto">
          <a:xfrm>
            <a:off x="10306647" y="1587661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223" name="Rectangle 7">
            <a:extLst>
              <a:ext uri="{FF2B5EF4-FFF2-40B4-BE49-F238E27FC236}">
                <a16:creationId xmlns:a16="http://schemas.microsoft.com/office/drawing/2014/main" id="{C49EECF8-8D89-28E0-08D4-230214297557}"/>
              </a:ext>
            </a:extLst>
          </p:cNvPr>
          <p:cNvSpPr/>
          <p:nvPr/>
        </p:nvSpPr>
        <p:spPr>
          <a:xfrm>
            <a:off x="10353522" y="4467579"/>
            <a:ext cx="1310541" cy="65805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24" name="Graphic 21">
            <a:extLst>
              <a:ext uri="{FF2B5EF4-FFF2-40B4-BE49-F238E27FC236}">
                <a16:creationId xmlns:a16="http://schemas.microsoft.com/office/drawing/2014/main" id="{ED593182-771A-D4B4-E680-EC45CD789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353522" y="4465719"/>
            <a:ext cx="381000" cy="381000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F1A3C847-AE05-1A70-9A87-D267252643C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1837" y="1687716"/>
            <a:ext cx="288000" cy="288000"/>
          </a:xfrm>
          <a:prstGeom prst="rect">
            <a:avLst/>
          </a:prstGeom>
        </p:spPr>
      </p:pic>
      <p:pic>
        <p:nvPicPr>
          <p:cNvPr id="234" name="그림 233">
            <a:extLst>
              <a:ext uri="{FF2B5EF4-FFF2-40B4-BE49-F238E27FC236}">
                <a16:creationId xmlns:a16="http://schemas.microsoft.com/office/drawing/2014/main" id="{28B89830-0CD0-05A4-7178-B31ED44ED9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1830" y="1661382"/>
            <a:ext cx="288000" cy="288000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B10AA01D-A9B8-B3EC-02D1-A63950A817E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87259" y="1665480"/>
            <a:ext cx="288000" cy="288000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A2499B61-2510-5CFC-1AB0-5F2B4940903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596" y="5800643"/>
            <a:ext cx="335296" cy="335296"/>
          </a:xfrm>
          <a:prstGeom prst="rect">
            <a:avLst/>
          </a:prstGeom>
        </p:spPr>
      </p:pic>
      <p:pic>
        <p:nvPicPr>
          <p:cNvPr id="239" name="그림 238">
            <a:extLst>
              <a:ext uri="{FF2B5EF4-FFF2-40B4-BE49-F238E27FC236}">
                <a16:creationId xmlns:a16="http://schemas.microsoft.com/office/drawing/2014/main" id="{70F75F8E-E05C-C875-DB25-166AE84DE5F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257" y="5790461"/>
            <a:ext cx="162018" cy="162018"/>
          </a:xfrm>
          <a:prstGeom prst="rect">
            <a:avLst/>
          </a:prstGeom>
        </p:spPr>
      </p:pic>
      <p:pic>
        <p:nvPicPr>
          <p:cNvPr id="241" name="그림 240">
            <a:extLst>
              <a:ext uri="{FF2B5EF4-FFF2-40B4-BE49-F238E27FC236}">
                <a16:creationId xmlns:a16="http://schemas.microsoft.com/office/drawing/2014/main" id="{7E78FD82-0570-0282-D482-DCF11BAA376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487" y="5783877"/>
            <a:ext cx="162018" cy="162018"/>
          </a:xfrm>
          <a:prstGeom prst="rect">
            <a:avLst/>
          </a:prstGeom>
        </p:spPr>
      </p:pic>
      <p:cxnSp>
        <p:nvCxnSpPr>
          <p:cNvPr id="246" name="꺾인 연결선[E] 245">
            <a:extLst>
              <a:ext uri="{FF2B5EF4-FFF2-40B4-BE49-F238E27FC236}">
                <a16:creationId xmlns:a16="http://schemas.microsoft.com/office/drawing/2014/main" id="{44950FC5-3812-6B7A-CC3F-FCB7566737BC}"/>
              </a:ext>
            </a:extLst>
          </p:cNvPr>
          <p:cNvCxnSpPr>
            <a:cxnSpLocks/>
            <a:stCxn id="123" idx="2"/>
            <a:endCxn id="241" idx="0"/>
          </p:cNvCxnSpPr>
          <p:nvPr/>
        </p:nvCxnSpPr>
        <p:spPr>
          <a:xfrm rot="16200000" flipH="1">
            <a:off x="1896137" y="5087518"/>
            <a:ext cx="765454" cy="627264"/>
          </a:xfrm>
          <a:prstGeom prst="bentConnector3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5" name="그림 254">
            <a:extLst>
              <a:ext uri="{FF2B5EF4-FFF2-40B4-BE49-F238E27FC236}">
                <a16:creationId xmlns:a16="http://schemas.microsoft.com/office/drawing/2014/main" id="{ABDD6414-58D6-25C0-673E-13AA0B0718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777" y="4768615"/>
            <a:ext cx="288000" cy="288000"/>
          </a:xfrm>
          <a:prstGeom prst="rect">
            <a:avLst/>
          </a:prstGeom>
        </p:spPr>
      </p:pic>
      <p:pic>
        <p:nvPicPr>
          <p:cNvPr id="258" name="그림 257">
            <a:extLst>
              <a:ext uri="{FF2B5EF4-FFF2-40B4-BE49-F238E27FC236}">
                <a16:creationId xmlns:a16="http://schemas.microsoft.com/office/drawing/2014/main" id="{937DA0FB-6DD4-188F-3CC8-5158D397D2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5708" y="4765449"/>
            <a:ext cx="288000" cy="288000"/>
          </a:xfrm>
          <a:prstGeom prst="rect">
            <a:avLst/>
          </a:prstGeom>
        </p:spPr>
      </p:pic>
      <p:pic>
        <p:nvPicPr>
          <p:cNvPr id="264" name="그림 263">
            <a:extLst>
              <a:ext uri="{FF2B5EF4-FFF2-40B4-BE49-F238E27FC236}">
                <a16:creationId xmlns:a16="http://schemas.microsoft.com/office/drawing/2014/main" id="{F5311F98-68B0-EEBB-E6A2-2AEEDF6E862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11188" y="3514117"/>
            <a:ext cx="283279" cy="288000"/>
          </a:xfrm>
          <a:prstGeom prst="rect">
            <a:avLst/>
          </a:prstGeom>
        </p:spPr>
      </p:pic>
      <p:cxnSp>
        <p:nvCxnSpPr>
          <p:cNvPr id="269" name="직선 연결선[R] 268">
            <a:extLst>
              <a:ext uri="{FF2B5EF4-FFF2-40B4-BE49-F238E27FC236}">
                <a16:creationId xmlns:a16="http://schemas.microsoft.com/office/drawing/2014/main" id="{EA078134-526B-8DD5-7181-2A208E833F3F}"/>
              </a:ext>
            </a:extLst>
          </p:cNvPr>
          <p:cNvCxnSpPr>
            <a:stCxn id="190" idx="3"/>
            <a:endCxn id="264" idx="1"/>
          </p:cNvCxnSpPr>
          <p:nvPr/>
        </p:nvCxnSpPr>
        <p:spPr>
          <a:xfrm>
            <a:off x="7952895" y="3656648"/>
            <a:ext cx="2158293" cy="146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[E] 270">
            <a:extLst>
              <a:ext uri="{FF2B5EF4-FFF2-40B4-BE49-F238E27FC236}">
                <a16:creationId xmlns:a16="http://schemas.microsoft.com/office/drawing/2014/main" id="{770ECC7B-CD39-9BF1-363F-79B62B70A723}"/>
              </a:ext>
            </a:extLst>
          </p:cNvPr>
          <p:cNvCxnSpPr>
            <a:stCxn id="181" idx="3"/>
            <a:endCxn id="264" idx="1"/>
          </p:cNvCxnSpPr>
          <p:nvPr/>
        </p:nvCxnSpPr>
        <p:spPr>
          <a:xfrm flipV="1">
            <a:off x="6425214" y="3658117"/>
            <a:ext cx="3685974" cy="312857"/>
          </a:xfrm>
          <a:prstGeom prst="bentConnector3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" name="그림 275">
            <a:extLst>
              <a:ext uri="{FF2B5EF4-FFF2-40B4-BE49-F238E27FC236}">
                <a16:creationId xmlns:a16="http://schemas.microsoft.com/office/drawing/2014/main" id="{8F62EC61-1A1E-33FA-D47B-A558A508A6C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467" y="4091345"/>
            <a:ext cx="288000" cy="288000"/>
          </a:xfrm>
          <a:prstGeom prst="rect">
            <a:avLst/>
          </a:prstGeom>
        </p:spPr>
      </p:pic>
      <p:cxnSp>
        <p:nvCxnSpPr>
          <p:cNvPr id="278" name="직선 연결선[R] 277">
            <a:extLst>
              <a:ext uri="{FF2B5EF4-FFF2-40B4-BE49-F238E27FC236}">
                <a16:creationId xmlns:a16="http://schemas.microsoft.com/office/drawing/2014/main" id="{166BFBD3-F597-811C-33E2-457E4D824F51}"/>
              </a:ext>
            </a:extLst>
          </p:cNvPr>
          <p:cNvCxnSpPr>
            <a:stCxn id="264" idx="2"/>
            <a:endCxn id="276" idx="0"/>
          </p:cNvCxnSpPr>
          <p:nvPr/>
        </p:nvCxnSpPr>
        <p:spPr>
          <a:xfrm flipH="1">
            <a:off x="10250467" y="3802117"/>
            <a:ext cx="2361" cy="28922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[E] 282">
            <a:extLst>
              <a:ext uri="{FF2B5EF4-FFF2-40B4-BE49-F238E27FC236}">
                <a16:creationId xmlns:a16="http://schemas.microsoft.com/office/drawing/2014/main" id="{B7F48557-356B-61A5-2902-A665A8563636}"/>
              </a:ext>
            </a:extLst>
          </p:cNvPr>
          <p:cNvCxnSpPr>
            <a:cxnSpLocks/>
            <a:stCxn id="255" idx="0"/>
            <a:endCxn id="276" idx="1"/>
          </p:cNvCxnSpPr>
          <p:nvPr/>
        </p:nvCxnSpPr>
        <p:spPr>
          <a:xfrm rot="5400000" flipH="1" flipV="1">
            <a:off x="9561987" y="4224135"/>
            <a:ext cx="533270" cy="555690"/>
          </a:xfrm>
          <a:prstGeom prst="bentConnector2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[E] 286">
            <a:extLst>
              <a:ext uri="{FF2B5EF4-FFF2-40B4-BE49-F238E27FC236}">
                <a16:creationId xmlns:a16="http://schemas.microsoft.com/office/drawing/2014/main" id="{31E1F585-127D-570D-0258-A8C15747CD2E}"/>
              </a:ext>
            </a:extLst>
          </p:cNvPr>
          <p:cNvCxnSpPr>
            <a:cxnSpLocks/>
            <a:stCxn id="258" idx="0"/>
            <a:endCxn id="276" idx="3"/>
          </p:cNvCxnSpPr>
          <p:nvPr/>
        </p:nvCxnSpPr>
        <p:spPr>
          <a:xfrm rot="16200000" flipV="1">
            <a:off x="10492036" y="4137776"/>
            <a:ext cx="530104" cy="725241"/>
          </a:xfrm>
          <a:prstGeom prst="bentConnector2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3" name="그림 292">
            <a:extLst>
              <a:ext uri="{FF2B5EF4-FFF2-40B4-BE49-F238E27FC236}">
                <a16:creationId xmlns:a16="http://schemas.microsoft.com/office/drawing/2014/main" id="{93266FDE-BB93-9B9D-E635-9D50C85C047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015" y="3513721"/>
            <a:ext cx="288000" cy="288000"/>
          </a:xfrm>
          <a:prstGeom prst="rect">
            <a:avLst/>
          </a:prstGeom>
        </p:spPr>
      </p:pic>
      <p:pic>
        <p:nvPicPr>
          <p:cNvPr id="294" name="그림 293">
            <a:extLst>
              <a:ext uri="{FF2B5EF4-FFF2-40B4-BE49-F238E27FC236}">
                <a16:creationId xmlns:a16="http://schemas.microsoft.com/office/drawing/2014/main" id="{3D10D9C3-171B-2337-002B-95C7BCD9927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129" y="3510175"/>
            <a:ext cx="288000" cy="288000"/>
          </a:xfrm>
          <a:prstGeom prst="rect">
            <a:avLst/>
          </a:prstGeom>
        </p:spPr>
      </p:pic>
      <p:cxnSp>
        <p:nvCxnSpPr>
          <p:cNvPr id="296" name="직선 화살표 연결선 295">
            <a:extLst>
              <a:ext uri="{FF2B5EF4-FFF2-40B4-BE49-F238E27FC236}">
                <a16:creationId xmlns:a16="http://schemas.microsoft.com/office/drawing/2014/main" id="{DA707645-9282-A59C-90E8-634C8A244836}"/>
              </a:ext>
            </a:extLst>
          </p:cNvPr>
          <p:cNvCxnSpPr>
            <a:stCxn id="293" idx="3"/>
            <a:endCxn id="294" idx="1"/>
          </p:cNvCxnSpPr>
          <p:nvPr/>
        </p:nvCxnSpPr>
        <p:spPr>
          <a:xfrm flipV="1">
            <a:off x="4181015" y="3654175"/>
            <a:ext cx="727114" cy="3546"/>
          </a:xfrm>
          <a:prstGeom prst="straightConnector1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구부러진 연결선[U] 297">
            <a:extLst>
              <a:ext uri="{FF2B5EF4-FFF2-40B4-BE49-F238E27FC236}">
                <a16:creationId xmlns:a16="http://schemas.microsoft.com/office/drawing/2014/main" id="{1EDB6D8C-2B0E-0EBF-77AE-CE9881A9F82F}"/>
              </a:ext>
            </a:extLst>
          </p:cNvPr>
          <p:cNvCxnSpPr>
            <a:cxnSpLocks/>
            <a:stCxn id="145" idx="0"/>
            <a:endCxn id="293" idx="1"/>
          </p:cNvCxnSpPr>
          <p:nvPr/>
        </p:nvCxnSpPr>
        <p:spPr>
          <a:xfrm rot="5400000" flipH="1" flipV="1">
            <a:off x="3518124" y="3409209"/>
            <a:ext cx="126378" cy="623403"/>
          </a:xfrm>
          <a:prstGeom prst="curvedConnector2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구부러진 연결선[U] 301">
            <a:extLst>
              <a:ext uri="{FF2B5EF4-FFF2-40B4-BE49-F238E27FC236}">
                <a16:creationId xmlns:a16="http://schemas.microsoft.com/office/drawing/2014/main" id="{7E28716E-F682-F386-0BB8-50FB24B4A1C7}"/>
              </a:ext>
            </a:extLst>
          </p:cNvPr>
          <p:cNvCxnSpPr>
            <a:cxnSpLocks/>
            <a:stCxn id="294" idx="2"/>
            <a:endCxn id="181" idx="1"/>
          </p:cNvCxnSpPr>
          <p:nvPr/>
        </p:nvCxnSpPr>
        <p:spPr>
          <a:xfrm rot="16200000" flipH="1">
            <a:off x="5508272" y="3342031"/>
            <a:ext cx="172799" cy="1085085"/>
          </a:xfrm>
          <a:prstGeom prst="curvedConnector2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화살표 연결선 308">
            <a:extLst>
              <a:ext uri="{FF2B5EF4-FFF2-40B4-BE49-F238E27FC236}">
                <a16:creationId xmlns:a16="http://schemas.microsoft.com/office/drawing/2014/main" id="{BE0CABC2-BB67-5E86-49A5-03DCC9E0FE54}"/>
              </a:ext>
            </a:extLst>
          </p:cNvPr>
          <p:cNvCxnSpPr>
            <a:stCxn id="294" idx="3"/>
            <a:endCxn id="190" idx="1"/>
          </p:cNvCxnSpPr>
          <p:nvPr/>
        </p:nvCxnSpPr>
        <p:spPr>
          <a:xfrm>
            <a:off x="5196129" y="3654175"/>
            <a:ext cx="2468766" cy="2473"/>
          </a:xfrm>
          <a:prstGeom prst="straightConnector1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꺾인 연결선[E] 317">
            <a:extLst>
              <a:ext uri="{FF2B5EF4-FFF2-40B4-BE49-F238E27FC236}">
                <a16:creationId xmlns:a16="http://schemas.microsoft.com/office/drawing/2014/main" id="{005F3ED2-9841-12BA-672C-D6B9A182A0CF}"/>
              </a:ext>
            </a:extLst>
          </p:cNvPr>
          <p:cNvCxnSpPr>
            <a:cxnSpLocks/>
            <a:stCxn id="148" idx="2"/>
            <a:endCxn id="239" idx="0"/>
          </p:cNvCxnSpPr>
          <p:nvPr/>
        </p:nvCxnSpPr>
        <p:spPr>
          <a:xfrm rot="5400000">
            <a:off x="2894823" y="5003866"/>
            <a:ext cx="772038" cy="801152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3" name="그림 322">
            <a:extLst>
              <a:ext uri="{FF2B5EF4-FFF2-40B4-BE49-F238E27FC236}">
                <a16:creationId xmlns:a16="http://schemas.microsoft.com/office/drawing/2014/main" id="{85BE8A9C-417C-2EC0-FD56-947E58541A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816" y="4777397"/>
            <a:ext cx="288000" cy="288000"/>
          </a:xfrm>
          <a:prstGeom prst="rect">
            <a:avLst/>
          </a:prstGeom>
        </p:spPr>
      </p:pic>
      <p:pic>
        <p:nvPicPr>
          <p:cNvPr id="324" name="그림 323">
            <a:extLst>
              <a:ext uri="{FF2B5EF4-FFF2-40B4-BE49-F238E27FC236}">
                <a16:creationId xmlns:a16="http://schemas.microsoft.com/office/drawing/2014/main" id="{3308734E-EF1E-DA85-E6F9-CEE63EE766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799" y="4777397"/>
            <a:ext cx="288000" cy="288000"/>
          </a:xfrm>
          <a:prstGeom prst="rect">
            <a:avLst/>
          </a:prstGeom>
        </p:spPr>
      </p:pic>
      <p:pic>
        <p:nvPicPr>
          <p:cNvPr id="325" name="그림 324">
            <a:extLst>
              <a:ext uri="{FF2B5EF4-FFF2-40B4-BE49-F238E27FC236}">
                <a16:creationId xmlns:a16="http://schemas.microsoft.com/office/drawing/2014/main" id="{69FE4719-A718-0021-A377-F8172DA7C1F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180" y="5847617"/>
            <a:ext cx="335296" cy="335296"/>
          </a:xfrm>
          <a:prstGeom prst="rect">
            <a:avLst/>
          </a:prstGeom>
        </p:spPr>
      </p:pic>
      <p:pic>
        <p:nvPicPr>
          <p:cNvPr id="326" name="그림 325">
            <a:extLst>
              <a:ext uri="{FF2B5EF4-FFF2-40B4-BE49-F238E27FC236}">
                <a16:creationId xmlns:a16="http://schemas.microsoft.com/office/drawing/2014/main" id="{14A1F3E6-16D5-E854-F529-1EF92B9DEBB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841" y="5837435"/>
            <a:ext cx="162018" cy="162018"/>
          </a:xfrm>
          <a:prstGeom prst="rect">
            <a:avLst/>
          </a:prstGeom>
        </p:spPr>
      </p:pic>
      <p:pic>
        <p:nvPicPr>
          <p:cNvPr id="327" name="그림 326">
            <a:extLst>
              <a:ext uri="{FF2B5EF4-FFF2-40B4-BE49-F238E27FC236}">
                <a16:creationId xmlns:a16="http://schemas.microsoft.com/office/drawing/2014/main" id="{3C36D520-F445-A289-8552-6B4DE990F71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71" y="5830851"/>
            <a:ext cx="162018" cy="162018"/>
          </a:xfrm>
          <a:prstGeom prst="rect">
            <a:avLst/>
          </a:prstGeom>
        </p:spPr>
      </p:pic>
      <p:cxnSp>
        <p:nvCxnSpPr>
          <p:cNvPr id="328" name="꺾인 연결선[E] 327">
            <a:extLst>
              <a:ext uri="{FF2B5EF4-FFF2-40B4-BE49-F238E27FC236}">
                <a16:creationId xmlns:a16="http://schemas.microsoft.com/office/drawing/2014/main" id="{69F1AAA9-0DA7-AD66-7B36-E0591D3ADF56}"/>
              </a:ext>
            </a:extLst>
          </p:cNvPr>
          <p:cNvCxnSpPr>
            <a:cxnSpLocks/>
            <a:stCxn id="323" idx="2"/>
            <a:endCxn id="327" idx="0"/>
          </p:cNvCxnSpPr>
          <p:nvPr/>
        </p:nvCxnSpPr>
        <p:spPr>
          <a:xfrm rot="16200000" flipH="1">
            <a:off x="6242721" y="5134492"/>
            <a:ext cx="765454" cy="627264"/>
          </a:xfrm>
          <a:prstGeom prst="bentConnector3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꺾인 연결선[E] 328">
            <a:extLst>
              <a:ext uri="{FF2B5EF4-FFF2-40B4-BE49-F238E27FC236}">
                <a16:creationId xmlns:a16="http://schemas.microsoft.com/office/drawing/2014/main" id="{83E5F4BD-73D6-8A99-1EDB-E7D18A9AF941}"/>
              </a:ext>
            </a:extLst>
          </p:cNvPr>
          <p:cNvCxnSpPr>
            <a:cxnSpLocks/>
            <a:stCxn id="324" idx="2"/>
            <a:endCxn id="326" idx="0"/>
          </p:cNvCxnSpPr>
          <p:nvPr/>
        </p:nvCxnSpPr>
        <p:spPr>
          <a:xfrm rot="5400000">
            <a:off x="7130306" y="5161942"/>
            <a:ext cx="772038" cy="578949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1" name="그림 330">
            <a:extLst>
              <a:ext uri="{FF2B5EF4-FFF2-40B4-BE49-F238E27FC236}">
                <a16:creationId xmlns:a16="http://schemas.microsoft.com/office/drawing/2014/main" id="{FDB04E19-789B-92E7-C6B7-018ABBC3F4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257" y="6027551"/>
            <a:ext cx="162018" cy="162018"/>
          </a:xfrm>
          <a:prstGeom prst="rect">
            <a:avLst/>
          </a:prstGeom>
        </p:spPr>
      </p:pic>
      <p:pic>
        <p:nvPicPr>
          <p:cNvPr id="332" name="그림 331">
            <a:extLst>
              <a:ext uri="{FF2B5EF4-FFF2-40B4-BE49-F238E27FC236}">
                <a16:creationId xmlns:a16="http://schemas.microsoft.com/office/drawing/2014/main" id="{D94B2D5E-3B76-9F83-DC60-6499E07A249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71" y="6028762"/>
            <a:ext cx="162018" cy="162018"/>
          </a:xfrm>
          <a:prstGeom prst="rect">
            <a:avLst/>
          </a:prstGeom>
        </p:spPr>
      </p:pic>
      <p:cxnSp>
        <p:nvCxnSpPr>
          <p:cNvPr id="334" name="직선 연결선[R] 333">
            <a:extLst>
              <a:ext uri="{FF2B5EF4-FFF2-40B4-BE49-F238E27FC236}">
                <a16:creationId xmlns:a16="http://schemas.microsoft.com/office/drawing/2014/main" id="{758DB45B-5E4E-CB18-2BCD-CA2C70FBC38E}"/>
              </a:ext>
            </a:extLst>
          </p:cNvPr>
          <p:cNvCxnSpPr>
            <a:cxnSpLocks/>
            <a:stCxn id="331" idx="3"/>
            <a:endCxn id="332" idx="1"/>
          </p:cNvCxnSpPr>
          <p:nvPr/>
        </p:nvCxnSpPr>
        <p:spPr>
          <a:xfrm>
            <a:off x="2961275" y="6108560"/>
            <a:ext cx="3896796" cy="1211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모서리가 둥근 직사각형 239">
            <a:extLst>
              <a:ext uri="{FF2B5EF4-FFF2-40B4-BE49-F238E27FC236}">
                <a16:creationId xmlns:a16="http://schemas.microsoft.com/office/drawing/2014/main" id="{83868E47-F3F3-D497-730D-D8A6FC033F74}"/>
              </a:ext>
            </a:extLst>
          </p:cNvPr>
          <p:cNvSpPr/>
          <p:nvPr/>
        </p:nvSpPr>
        <p:spPr>
          <a:xfrm>
            <a:off x="4321225" y="5995959"/>
            <a:ext cx="815321" cy="225202"/>
          </a:xfrm>
          <a:prstGeom prst="roundRect">
            <a:avLst>
              <a:gd name="adj" fmla="val 8311"/>
            </a:avLst>
          </a:prstGeom>
          <a:solidFill>
            <a:srgbClr val="FF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ore-KR" altLang="en-US" dirty="0">
              <a:solidFill>
                <a:schemeClr val="bg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A21F3F03-681C-519A-8DB2-CB1B6726CEFD}"/>
              </a:ext>
            </a:extLst>
          </p:cNvPr>
          <p:cNvSpPr txBox="1"/>
          <p:nvPr/>
        </p:nvSpPr>
        <p:spPr>
          <a:xfrm>
            <a:off x="4339248" y="5992869"/>
            <a:ext cx="81532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ore-KR" sz="800" b="1" kern="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Inter Peering</a:t>
            </a:r>
            <a:endParaRPr kumimoji="0" lang="en-US" altLang="ko-Kore-KR" sz="8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B06B5867-2B36-52D4-5CCB-FA7406233098}"/>
              </a:ext>
            </a:extLst>
          </p:cNvPr>
          <p:cNvSpPr txBox="1"/>
          <p:nvPr/>
        </p:nvSpPr>
        <p:spPr>
          <a:xfrm>
            <a:off x="2109232" y="5974125"/>
            <a:ext cx="4657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ore-KR" sz="800" b="1" kern="0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TGW</a:t>
            </a:r>
            <a:endParaRPr kumimoji="0" lang="en-US" altLang="ko-Kore-KR" sz="8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4C9F315E-9103-0B56-4C15-8BCCC12222CA}"/>
              </a:ext>
            </a:extLst>
          </p:cNvPr>
          <p:cNvSpPr txBox="1"/>
          <p:nvPr/>
        </p:nvSpPr>
        <p:spPr>
          <a:xfrm>
            <a:off x="7226850" y="5992869"/>
            <a:ext cx="4657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ore-KR" sz="800" b="1" kern="0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TGW</a:t>
            </a:r>
            <a:endParaRPr kumimoji="0" lang="en-US" altLang="ko-Kore-KR" sz="8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E0525351-2FFE-B7B6-3D51-BA6DD727566B}"/>
              </a:ext>
            </a:extLst>
          </p:cNvPr>
          <p:cNvSpPr txBox="1"/>
          <p:nvPr/>
        </p:nvSpPr>
        <p:spPr>
          <a:xfrm>
            <a:off x="10239576" y="3548573"/>
            <a:ext cx="9470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ore-KR" sz="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Link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81FE1D5D-7A8A-C2C5-6CAA-063B81A7C42E}"/>
              </a:ext>
            </a:extLst>
          </p:cNvPr>
          <p:cNvSpPr txBox="1"/>
          <p:nvPr/>
        </p:nvSpPr>
        <p:spPr>
          <a:xfrm>
            <a:off x="10342236" y="4018553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ore-KR" sz="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NLB</a:t>
            </a:r>
          </a:p>
        </p:txBody>
      </p:sp>
    </p:spTree>
    <p:extLst>
      <p:ext uri="{BB962C8B-B14F-4D97-AF65-F5344CB8AC3E}">
        <p14:creationId xmlns:p14="http://schemas.microsoft.com/office/powerpoint/2010/main" val="127221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13C13-EF4F-70BC-8678-381C8399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3.Cross AZ VPC</a:t>
            </a:r>
            <a:r>
              <a:rPr kumimoji="1" lang="en-US" altLang="ko-Kore-KR" dirty="0"/>
              <a:t> Peering </a:t>
            </a:r>
            <a:r>
              <a:rPr kumimoji="1" lang="ko-Kore-KR" altLang="en-US" dirty="0"/>
              <a:t>구성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BC7369-1081-0A8D-47B7-925220F9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1" name="Rectangle 5">
            <a:extLst>
              <a:ext uri="{FF2B5EF4-FFF2-40B4-BE49-F238E27FC236}">
                <a16:creationId xmlns:a16="http://schemas.microsoft.com/office/drawing/2014/main" id="{6AC60D9D-1819-4323-B876-805B4F37C592}"/>
              </a:ext>
            </a:extLst>
          </p:cNvPr>
          <p:cNvSpPr/>
          <p:nvPr/>
        </p:nvSpPr>
        <p:spPr bwMode="auto">
          <a:xfrm>
            <a:off x="800232" y="1588349"/>
            <a:ext cx="1541188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65" name="Graphic 38">
            <a:extLst>
              <a:ext uri="{FF2B5EF4-FFF2-40B4-BE49-F238E27FC236}">
                <a16:creationId xmlns:a16="http://schemas.microsoft.com/office/drawing/2014/main" id="{C31F2E33-66C1-C1B2-74CD-FCF6A603E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8220" y="1831716"/>
            <a:ext cx="381000" cy="381000"/>
          </a:xfrm>
          <a:prstGeom prst="rect">
            <a:avLst/>
          </a:prstGeom>
        </p:spPr>
      </p:pic>
      <p:sp>
        <p:nvSpPr>
          <p:cNvPr id="94" name="Rectangle 7">
            <a:extLst>
              <a:ext uri="{FF2B5EF4-FFF2-40B4-BE49-F238E27FC236}">
                <a16:creationId xmlns:a16="http://schemas.microsoft.com/office/drawing/2014/main" id="{C404D20E-7BA6-33A3-B4A6-3E6CA17CB0E1}"/>
              </a:ext>
            </a:extLst>
          </p:cNvPr>
          <p:cNvSpPr/>
          <p:nvPr/>
        </p:nvSpPr>
        <p:spPr>
          <a:xfrm>
            <a:off x="847107" y="3266575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95" name="Graphic 21">
            <a:extLst>
              <a:ext uri="{FF2B5EF4-FFF2-40B4-BE49-F238E27FC236}">
                <a16:creationId xmlns:a16="http://schemas.microsoft.com/office/drawing/2014/main" id="{0F94B313-EBF6-B446-024C-9AEA71647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7107" y="3266575"/>
            <a:ext cx="381000" cy="381000"/>
          </a:xfrm>
          <a:prstGeom prst="rect">
            <a:avLst/>
          </a:prstGeom>
        </p:spPr>
      </p:pic>
      <p:sp>
        <p:nvSpPr>
          <p:cNvPr id="98" name="Rectangle 8">
            <a:extLst>
              <a:ext uri="{FF2B5EF4-FFF2-40B4-BE49-F238E27FC236}">
                <a16:creationId xmlns:a16="http://schemas.microsoft.com/office/drawing/2014/main" id="{54BD63B2-52CB-623B-BFD4-4F735BDB85D6}"/>
              </a:ext>
            </a:extLst>
          </p:cNvPr>
          <p:cNvSpPr/>
          <p:nvPr/>
        </p:nvSpPr>
        <p:spPr>
          <a:xfrm>
            <a:off x="248463" y="1253386"/>
            <a:ext cx="4052024" cy="4202113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ysDash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(ap-northeast-2)</a:t>
            </a:r>
          </a:p>
        </p:txBody>
      </p:sp>
      <p:pic>
        <p:nvPicPr>
          <p:cNvPr id="99" name="Graphic 25">
            <a:extLst>
              <a:ext uri="{FF2B5EF4-FFF2-40B4-BE49-F238E27FC236}">
                <a16:creationId xmlns:a16="http://schemas.microsoft.com/office/drawing/2014/main" id="{5B905F52-A040-4848-01B1-69247F5D10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48463" y="1253386"/>
            <a:ext cx="381000" cy="381000"/>
          </a:xfrm>
          <a:prstGeom prst="rect">
            <a:avLst/>
          </a:prstGeom>
        </p:spPr>
      </p:pic>
      <p:sp>
        <p:nvSpPr>
          <p:cNvPr id="102" name="Rectangle 32">
            <a:extLst>
              <a:ext uri="{FF2B5EF4-FFF2-40B4-BE49-F238E27FC236}">
                <a16:creationId xmlns:a16="http://schemas.microsoft.com/office/drawing/2014/main" id="{4ADC3889-4E4F-622F-0EAE-D7E5D54AE4DA}"/>
              </a:ext>
            </a:extLst>
          </p:cNvPr>
          <p:cNvSpPr/>
          <p:nvPr/>
        </p:nvSpPr>
        <p:spPr>
          <a:xfrm>
            <a:off x="847107" y="2314072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03" name="Graphic 19">
            <a:extLst>
              <a:ext uri="{FF2B5EF4-FFF2-40B4-BE49-F238E27FC236}">
                <a16:creationId xmlns:a16="http://schemas.microsoft.com/office/drawing/2014/main" id="{AC7EBFFC-2627-8577-08B5-2D4C7DD4D4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7107" y="2314072"/>
            <a:ext cx="381000" cy="3810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7A7B9EBE-67A4-DFDE-C839-CB0E9AF377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07" y="2832987"/>
            <a:ext cx="288000" cy="288000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2B4E27CF-074B-8DC1-7085-D466713EFA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232" y="2838359"/>
            <a:ext cx="288000" cy="288000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783A5A2F-33AC-E299-9326-1B14E4B764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493" y="2834047"/>
            <a:ext cx="288000" cy="288000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1E0C0D15-9BD0-2FD1-6F8D-EF76BCE410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40" y="3783039"/>
            <a:ext cx="288000" cy="288000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AF1329DB-95CD-5378-351E-98466F91F3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426" y="3784099"/>
            <a:ext cx="288000" cy="288000"/>
          </a:xfrm>
          <a:prstGeom prst="rect">
            <a:avLst/>
          </a:prstGeom>
        </p:spPr>
      </p:pic>
      <p:sp>
        <p:nvSpPr>
          <p:cNvPr id="116" name="Rectangle 7">
            <a:extLst>
              <a:ext uri="{FF2B5EF4-FFF2-40B4-BE49-F238E27FC236}">
                <a16:creationId xmlns:a16="http://schemas.microsoft.com/office/drawing/2014/main" id="{896AEDE0-BD57-B13F-D9B8-B675804BD16C}"/>
              </a:ext>
            </a:extLst>
          </p:cNvPr>
          <p:cNvSpPr/>
          <p:nvPr/>
        </p:nvSpPr>
        <p:spPr>
          <a:xfrm>
            <a:off x="847107" y="4238005"/>
            <a:ext cx="1412773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EF66D1B6-7B2B-C1B7-3530-16C7F1535C3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47107" y="4238005"/>
            <a:ext cx="381000" cy="3937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4122A110-5010-686D-74F5-2779909F7A7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232" y="4730423"/>
            <a:ext cx="288000" cy="288000"/>
          </a:xfrm>
          <a:prstGeom prst="rect">
            <a:avLst/>
          </a:prstGeom>
        </p:spPr>
      </p:pic>
      <p:sp>
        <p:nvSpPr>
          <p:cNvPr id="136" name="Rectangle 5">
            <a:extLst>
              <a:ext uri="{FF2B5EF4-FFF2-40B4-BE49-F238E27FC236}">
                <a16:creationId xmlns:a16="http://schemas.microsoft.com/office/drawing/2014/main" id="{D7DD5C1D-0BDA-38EC-4CD2-4F2B4770F16B}"/>
              </a:ext>
            </a:extLst>
          </p:cNvPr>
          <p:cNvSpPr/>
          <p:nvPr/>
        </p:nvSpPr>
        <p:spPr bwMode="auto">
          <a:xfrm>
            <a:off x="2516418" y="1588349"/>
            <a:ext cx="1541188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137" name="Rectangle 7">
            <a:extLst>
              <a:ext uri="{FF2B5EF4-FFF2-40B4-BE49-F238E27FC236}">
                <a16:creationId xmlns:a16="http://schemas.microsoft.com/office/drawing/2014/main" id="{565FC914-C099-0869-4F26-454911D0EA12}"/>
              </a:ext>
            </a:extLst>
          </p:cNvPr>
          <p:cNvSpPr/>
          <p:nvPr/>
        </p:nvSpPr>
        <p:spPr>
          <a:xfrm>
            <a:off x="2563293" y="3266575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38" name="Graphic 21">
            <a:extLst>
              <a:ext uri="{FF2B5EF4-FFF2-40B4-BE49-F238E27FC236}">
                <a16:creationId xmlns:a16="http://schemas.microsoft.com/office/drawing/2014/main" id="{F835D225-8EA6-A1E8-F0E1-62CEA75E8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563293" y="3266575"/>
            <a:ext cx="381000" cy="381000"/>
          </a:xfrm>
          <a:prstGeom prst="rect">
            <a:avLst/>
          </a:prstGeom>
        </p:spPr>
      </p:pic>
      <p:sp>
        <p:nvSpPr>
          <p:cNvPr id="139" name="Rectangle 32">
            <a:extLst>
              <a:ext uri="{FF2B5EF4-FFF2-40B4-BE49-F238E27FC236}">
                <a16:creationId xmlns:a16="http://schemas.microsoft.com/office/drawing/2014/main" id="{B412F37B-202E-B048-29B0-BC2B1A5A25C6}"/>
              </a:ext>
            </a:extLst>
          </p:cNvPr>
          <p:cNvSpPr/>
          <p:nvPr/>
        </p:nvSpPr>
        <p:spPr>
          <a:xfrm>
            <a:off x="2563293" y="2314072"/>
            <a:ext cx="1412773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40" name="Graphic 19">
            <a:extLst>
              <a:ext uri="{FF2B5EF4-FFF2-40B4-BE49-F238E27FC236}">
                <a16:creationId xmlns:a16="http://schemas.microsoft.com/office/drawing/2014/main" id="{01AA976E-E805-5A53-266B-B29F30D721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563293" y="2314072"/>
            <a:ext cx="381000" cy="381000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5B470887-F706-B3F4-F201-EAF38A0CD6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93" y="2832987"/>
            <a:ext cx="288000" cy="288000"/>
          </a:xfrm>
          <a:prstGeom prst="rect">
            <a:avLst/>
          </a:prstGeom>
        </p:spPr>
      </p:pic>
      <p:pic>
        <p:nvPicPr>
          <p:cNvPr id="142" name="그림 141">
            <a:extLst>
              <a:ext uri="{FF2B5EF4-FFF2-40B4-BE49-F238E27FC236}">
                <a16:creationId xmlns:a16="http://schemas.microsoft.com/office/drawing/2014/main" id="{394DDA8A-64C6-FC0D-85F3-1308248040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418" y="2838359"/>
            <a:ext cx="288000" cy="288000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DFC624B1-874E-73B0-90AD-A5F6EBCE3D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679" y="2834047"/>
            <a:ext cx="288000" cy="288000"/>
          </a:xfrm>
          <a:prstGeom prst="rect">
            <a:avLst/>
          </a:prstGeom>
        </p:spPr>
      </p:pic>
      <p:pic>
        <p:nvPicPr>
          <p:cNvPr id="144" name="그림 143">
            <a:extLst>
              <a:ext uri="{FF2B5EF4-FFF2-40B4-BE49-F238E27FC236}">
                <a16:creationId xmlns:a16="http://schemas.microsoft.com/office/drawing/2014/main" id="{8F229806-DB41-EF1C-1D85-F46D74913A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26" y="3783039"/>
            <a:ext cx="288000" cy="288000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3F124309-EB48-B7B1-F4DF-9B8B35A7FB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612" y="3784099"/>
            <a:ext cx="288000" cy="288000"/>
          </a:xfrm>
          <a:prstGeom prst="rect">
            <a:avLst/>
          </a:prstGeom>
        </p:spPr>
      </p:pic>
      <p:sp>
        <p:nvSpPr>
          <p:cNvPr id="146" name="Rectangle 7">
            <a:extLst>
              <a:ext uri="{FF2B5EF4-FFF2-40B4-BE49-F238E27FC236}">
                <a16:creationId xmlns:a16="http://schemas.microsoft.com/office/drawing/2014/main" id="{9FC25A90-B724-1CD3-4AD3-435BD8F7FB11}"/>
              </a:ext>
            </a:extLst>
          </p:cNvPr>
          <p:cNvSpPr/>
          <p:nvPr/>
        </p:nvSpPr>
        <p:spPr>
          <a:xfrm>
            <a:off x="2563293" y="4238005"/>
            <a:ext cx="1412773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47" name="그림 146">
            <a:extLst>
              <a:ext uri="{FF2B5EF4-FFF2-40B4-BE49-F238E27FC236}">
                <a16:creationId xmlns:a16="http://schemas.microsoft.com/office/drawing/2014/main" id="{218CF009-811B-5713-5E18-79FB5F48B21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63293" y="4238005"/>
            <a:ext cx="381000" cy="393700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81611DDE-382D-4716-FB80-ADE7DE877D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418" y="4730423"/>
            <a:ext cx="288000" cy="288000"/>
          </a:xfrm>
          <a:prstGeom prst="rect">
            <a:avLst/>
          </a:prstGeom>
        </p:spPr>
      </p:pic>
      <p:sp>
        <p:nvSpPr>
          <p:cNvPr id="60" name="Rectangle 3">
            <a:extLst>
              <a:ext uri="{FF2B5EF4-FFF2-40B4-BE49-F238E27FC236}">
                <a16:creationId xmlns:a16="http://schemas.microsoft.com/office/drawing/2014/main" id="{5457C313-BC17-12BA-7FE6-2CFE0437CD73}"/>
              </a:ext>
            </a:extLst>
          </p:cNvPr>
          <p:cNvSpPr/>
          <p:nvPr/>
        </p:nvSpPr>
        <p:spPr bwMode="auto">
          <a:xfrm>
            <a:off x="376632" y="1834411"/>
            <a:ext cx="3795684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ICN VPC (10.11)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49" name="Rectangle 5">
            <a:extLst>
              <a:ext uri="{FF2B5EF4-FFF2-40B4-BE49-F238E27FC236}">
                <a16:creationId xmlns:a16="http://schemas.microsoft.com/office/drawing/2014/main" id="{1FA9297A-3F61-8B76-D821-E4BAF3CB2773}"/>
              </a:ext>
            </a:extLst>
          </p:cNvPr>
          <p:cNvSpPr/>
          <p:nvPr/>
        </p:nvSpPr>
        <p:spPr bwMode="auto">
          <a:xfrm>
            <a:off x="5116214" y="1588349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150" name="Graphic 38">
            <a:extLst>
              <a:ext uri="{FF2B5EF4-FFF2-40B4-BE49-F238E27FC236}">
                <a16:creationId xmlns:a16="http://schemas.microsoft.com/office/drawing/2014/main" id="{31111D4A-77FA-6A13-54A3-35AA67CA2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68143" y="1831716"/>
            <a:ext cx="381000" cy="381000"/>
          </a:xfrm>
          <a:prstGeom prst="rect">
            <a:avLst/>
          </a:prstGeom>
        </p:spPr>
      </p:pic>
      <p:sp>
        <p:nvSpPr>
          <p:cNvPr id="151" name="Rectangle 7">
            <a:extLst>
              <a:ext uri="{FF2B5EF4-FFF2-40B4-BE49-F238E27FC236}">
                <a16:creationId xmlns:a16="http://schemas.microsoft.com/office/drawing/2014/main" id="{6E31D0BD-E377-C3FA-AC8C-D7609A1BC8A5}"/>
              </a:ext>
            </a:extLst>
          </p:cNvPr>
          <p:cNvSpPr/>
          <p:nvPr/>
        </p:nvSpPr>
        <p:spPr>
          <a:xfrm>
            <a:off x="5163089" y="3266575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52" name="Graphic 21">
            <a:extLst>
              <a:ext uri="{FF2B5EF4-FFF2-40B4-BE49-F238E27FC236}">
                <a16:creationId xmlns:a16="http://schemas.microsoft.com/office/drawing/2014/main" id="{00D85D64-B0C2-7C98-5FEB-3D0C8BAF5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163089" y="3266575"/>
            <a:ext cx="381000" cy="381000"/>
          </a:xfrm>
          <a:prstGeom prst="rect">
            <a:avLst/>
          </a:prstGeom>
        </p:spPr>
      </p:pic>
      <p:sp>
        <p:nvSpPr>
          <p:cNvPr id="153" name="Rectangle 8">
            <a:extLst>
              <a:ext uri="{FF2B5EF4-FFF2-40B4-BE49-F238E27FC236}">
                <a16:creationId xmlns:a16="http://schemas.microsoft.com/office/drawing/2014/main" id="{2A924578-152A-0D0D-2EFE-5AB02941E465}"/>
              </a:ext>
            </a:extLst>
          </p:cNvPr>
          <p:cNvSpPr/>
          <p:nvPr/>
        </p:nvSpPr>
        <p:spPr>
          <a:xfrm>
            <a:off x="4538385" y="1253386"/>
            <a:ext cx="7360551" cy="4202113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ysDash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(us-east-1)</a:t>
            </a:r>
          </a:p>
        </p:txBody>
      </p:sp>
      <p:pic>
        <p:nvPicPr>
          <p:cNvPr id="154" name="Graphic 25">
            <a:extLst>
              <a:ext uri="{FF2B5EF4-FFF2-40B4-BE49-F238E27FC236}">
                <a16:creationId xmlns:a16="http://schemas.microsoft.com/office/drawing/2014/main" id="{FA6AB60A-2C57-35E4-C07C-18A4C02CB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538386" y="1253386"/>
            <a:ext cx="381000" cy="381000"/>
          </a:xfrm>
          <a:prstGeom prst="rect">
            <a:avLst/>
          </a:prstGeom>
        </p:spPr>
      </p:pic>
      <p:sp>
        <p:nvSpPr>
          <p:cNvPr id="155" name="Rectangle 32">
            <a:extLst>
              <a:ext uri="{FF2B5EF4-FFF2-40B4-BE49-F238E27FC236}">
                <a16:creationId xmlns:a16="http://schemas.microsoft.com/office/drawing/2014/main" id="{8D052E67-D098-45DD-4C9C-1FBD6419BD09}"/>
              </a:ext>
            </a:extLst>
          </p:cNvPr>
          <p:cNvSpPr/>
          <p:nvPr/>
        </p:nvSpPr>
        <p:spPr>
          <a:xfrm>
            <a:off x="5163089" y="2314072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56" name="Graphic 19">
            <a:extLst>
              <a:ext uri="{FF2B5EF4-FFF2-40B4-BE49-F238E27FC236}">
                <a16:creationId xmlns:a16="http://schemas.microsoft.com/office/drawing/2014/main" id="{F4384800-4981-F2B3-C5F7-8E2E4271C0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163089" y="2314072"/>
            <a:ext cx="381000" cy="381000"/>
          </a:xfrm>
          <a:prstGeom prst="rect">
            <a:avLst/>
          </a:prstGeom>
        </p:spPr>
      </p:pic>
      <p:sp>
        <p:nvSpPr>
          <p:cNvPr id="162" name="Rectangle 7">
            <a:extLst>
              <a:ext uri="{FF2B5EF4-FFF2-40B4-BE49-F238E27FC236}">
                <a16:creationId xmlns:a16="http://schemas.microsoft.com/office/drawing/2014/main" id="{DF1DD7DE-2678-4310-0FCF-ED0884C028DB}"/>
              </a:ext>
            </a:extLst>
          </p:cNvPr>
          <p:cNvSpPr/>
          <p:nvPr/>
        </p:nvSpPr>
        <p:spPr>
          <a:xfrm>
            <a:off x="5163089" y="4238005"/>
            <a:ext cx="1310541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63" name="그림 162">
            <a:extLst>
              <a:ext uri="{FF2B5EF4-FFF2-40B4-BE49-F238E27FC236}">
                <a16:creationId xmlns:a16="http://schemas.microsoft.com/office/drawing/2014/main" id="{7B6BDB54-ED43-AF95-586A-DD3AF7C4450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63089" y="4238005"/>
            <a:ext cx="381000" cy="393700"/>
          </a:xfrm>
          <a:prstGeom prst="rect">
            <a:avLst/>
          </a:prstGeom>
        </p:spPr>
      </p:pic>
      <p:sp>
        <p:nvSpPr>
          <p:cNvPr id="178" name="Rectangle 3">
            <a:extLst>
              <a:ext uri="{FF2B5EF4-FFF2-40B4-BE49-F238E27FC236}">
                <a16:creationId xmlns:a16="http://schemas.microsoft.com/office/drawing/2014/main" id="{50E0F3BF-0571-37FE-9C60-57AA5126F559}"/>
              </a:ext>
            </a:extLst>
          </p:cNvPr>
          <p:cNvSpPr/>
          <p:nvPr/>
        </p:nvSpPr>
        <p:spPr bwMode="auto">
          <a:xfrm>
            <a:off x="4666556" y="1834411"/>
            <a:ext cx="3487418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BOM VPC (10.22)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DD902A86-B40E-86DE-6FF2-C52B0E087C9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214" y="3826974"/>
            <a:ext cx="288000" cy="288000"/>
          </a:xfrm>
          <a:prstGeom prst="rect">
            <a:avLst/>
          </a:prstGeom>
        </p:spPr>
      </p:pic>
      <p:sp>
        <p:nvSpPr>
          <p:cNvPr id="182" name="Rectangle 5">
            <a:extLst>
              <a:ext uri="{FF2B5EF4-FFF2-40B4-BE49-F238E27FC236}">
                <a16:creationId xmlns:a16="http://schemas.microsoft.com/office/drawing/2014/main" id="{24AE602C-FEA9-3852-3BA4-2966F153B5E4}"/>
              </a:ext>
            </a:extLst>
          </p:cNvPr>
          <p:cNvSpPr/>
          <p:nvPr/>
        </p:nvSpPr>
        <p:spPr bwMode="auto">
          <a:xfrm>
            <a:off x="6646938" y="1587661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183" name="Rectangle 7">
            <a:extLst>
              <a:ext uri="{FF2B5EF4-FFF2-40B4-BE49-F238E27FC236}">
                <a16:creationId xmlns:a16="http://schemas.microsoft.com/office/drawing/2014/main" id="{426B4AD8-FDC2-A43C-8BB2-202F320D50F5}"/>
              </a:ext>
            </a:extLst>
          </p:cNvPr>
          <p:cNvSpPr/>
          <p:nvPr/>
        </p:nvSpPr>
        <p:spPr>
          <a:xfrm>
            <a:off x="6693813" y="3265887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84" name="Graphic 21">
            <a:extLst>
              <a:ext uri="{FF2B5EF4-FFF2-40B4-BE49-F238E27FC236}">
                <a16:creationId xmlns:a16="http://schemas.microsoft.com/office/drawing/2014/main" id="{1D65A402-983B-2DCD-73D5-C951EB88F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693813" y="3265887"/>
            <a:ext cx="381000" cy="381000"/>
          </a:xfrm>
          <a:prstGeom prst="rect">
            <a:avLst/>
          </a:prstGeom>
        </p:spPr>
      </p:pic>
      <p:sp>
        <p:nvSpPr>
          <p:cNvPr id="185" name="Rectangle 32">
            <a:extLst>
              <a:ext uri="{FF2B5EF4-FFF2-40B4-BE49-F238E27FC236}">
                <a16:creationId xmlns:a16="http://schemas.microsoft.com/office/drawing/2014/main" id="{9B7C0D99-BFCF-D553-B3FB-B816DE4FB3F9}"/>
              </a:ext>
            </a:extLst>
          </p:cNvPr>
          <p:cNvSpPr/>
          <p:nvPr/>
        </p:nvSpPr>
        <p:spPr>
          <a:xfrm>
            <a:off x="6693813" y="2313384"/>
            <a:ext cx="1310541" cy="889002"/>
          </a:xfrm>
          <a:prstGeom prst="rect">
            <a:avLst/>
          </a:prstGeom>
          <a:noFill/>
          <a:ln w="15875" cap="flat" cmpd="sng" algn="ctr">
            <a:solidFill>
              <a:srgbClr val="7AA11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86" name="Graphic 19">
            <a:extLst>
              <a:ext uri="{FF2B5EF4-FFF2-40B4-BE49-F238E27FC236}">
                <a16:creationId xmlns:a16="http://schemas.microsoft.com/office/drawing/2014/main" id="{D02C6D07-D4CE-CCD8-2AAA-904C50EAE7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693813" y="2313384"/>
            <a:ext cx="381000" cy="381000"/>
          </a:xfrm>
          <a:prstGeom prst="rect">
            <a:avLst/>
          </a:prstGeom>
        </p:spPr>
      </p:pic>
      <p:sp>
        <p:nvSpPr>
          <p:cNvPr id="187" name="Rectangle 7">
            <a:extLst>
              <a:ext uri="{FF2B5EF4-FFF2-40B4-BE49-F238E27FC236}">
                <a16:creationId xmlns:a16="http://schemas.microsoft.com/office/drawing/2014/main" id="{CADECA99-2CDF-7FC8-45CD-D875550F8118}"/>
              </a:ext>
            </a:extLst>
          </p:cNvPr>
          <p:cNvSpPr/>
          <p:nvPr/>
        </p:nvSpPr>
        <p:spPr>
          <a:xfrm>
            <a:off x="6693813" y="4237317"/>
            <a:ext cx="1310541" cy="8890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Attach subnet</a:t>
            </a:r>
          </a:p>
        </p:txBody>
      </p:sp>
      <p:pic>
        <p:nvPicPr>
          <p:cNvPr id="188" name="그림 187">
            <a:extLst>
              <a:ext uri="{FF2B5EF4-FFF2-40B4-BE49-F238E27FC236}">
                <a16:creationId xmlns:a16="http://schemas.microsoft.com/office/drawing/2014/main" id="{197DC06E-55A5-1A05-C069-4866CC63FA4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93813" y="4237317"/>
            <a:ext cx="381000" cy="393700"/>
          </a:xfrm>
          <a:prstGeom prst="rect">
            <a:avLst/>
          </a:prstGeom>
        </p:spPr>
      </p:pic>
      <p:pic>
        <p:nvPicPr>
          <p:cNvPr id="190" name="그림 189">
            <a:extLst>
              <a:ext uri="{FF2B5EF4-FFF2-40B4-BE49-F238E27FC236}">
                <a16:creationId xmlns:a16="http://schemas.microsoft.com/office/drawing/2014/main" id="{F810788F-B458-B4EB-AD42-A887A40E79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895" y="3512648"/>
            <a:ext cx="288000" cy="288000"/>
          </a:xfrm>
          <a:prstGeom prst="rect">
            <a:avLst/>
          </a:prstGeom>
        </p:spPr>
      </p:pic>
      <p:sp>
        <p:nvSpPr>
          <p:cNvPr id="211" name="Rectangle 5">
            <a:extLst>
              <a:ext uri="{FF2B5EF4-FFF2-40B4-BE49-F238E27FC236}">
                <a16:creationId xmlns:a16="http://schemas.microsoft.com/office/drawing/2014/main" id="{8F74F790-1D13-05E9-EDC6-A94F006F3A77}"/>
              </a:ext>
            </a:extLst>
          </p:cNvPr>
          <p:cNvSpPr/>
          <p:nvPr/>
        </p:nvSpPr>
        <p:spPr bwMode="auto">
          <a:xfrm>
            <a:off x="8775923" y="1588349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A</a:t>
            </a:r>
          </a:p>
        </p:txBody>
      </p:sp>
      <p:pic>
        <p:nvPicPr>
          <p:cNvPr id="212" name="Graphic 38">
            <a:extLst>
              <a:ext uri="{FF2B5EF4-FFF2-40B4-BE49-F238E27FC236}">
                <a16:creationId xmlns:a16="http://schemas.microsoft.com/office/drawing/2014/main" id="{5B11F82D-C208-EDF3-ED57-50CF0CF88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27852" y="1831716"/>
            <a:ext cx="381000" cy="381000"/>
          </a:xfrm>
          <a:prstGeom prst="rect">
            <a:avLst/>
          </a:prstGeom>
        </p:spPr>
      </p:pic>
      <p:sp>
        <p:nvSpPr>
          <p:cNvPr id="213" name="Rectangle 7">
            <a:extLst>
              <a:ext uri="{FF2B5EF4-FFF2-40B4-BE49-F238E27FC236}">
                <a16:creationId xmlns:a16="http://schemas.microsoft.com/office/drawing/2014/main" id="{940040CA-E100-EE55-897E-DAA3F479ADE6}"/>
              </a:ext>
            </a:extLst>
          </p:cNvPr>
          <p:cNvSpPr/>
          <p:nvPr/>
        </p:nvSpPr>
        <p:spPr>
          <a:xfrm>
            <a:off x="8822798" y="4468267"/>
            <a:ext cx="1310541" cy="65805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14" name="Graphic 21">
            <a:extLst>
              <a:ext uri="{FF2B5EF4-FFF2-40B4-BE49-F238E27FC236}">
                <a16:creationId xmlns:a16="http://schemas.microsoft.com/office/drawing/2014/main" id="{331320ED-A022-065D-156E-90B0A1734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822798" y="4466407"/>
            <a:ext cx="381000" cy="381000"/>
          </a:xfrm>
          <a:prstGeom prst="rect">
            <a:avLst/>
          </a:prstGeom>
        </p:spPr>
      </p:pic>
      <p:sp>
        <p:nvSpPr>
          <p:cNvPr id="220" name="Rectangle 3">
            <a:extLst>
              <a:ext uri="{FF2B5EF4-FFF2-40B4-BE49-F238E27FC236}">
                <a16:creationId xmlns:a16="http://schemas.microsoft.com/office/drawing/2014/main" id="{756C14A9-A20E-AB92-4BA8-E295FB6AE96D}"/>
              </a:ext>
            </a:extLst>
          </p:cNvPr>
          <p:cNvSpPr/>
          <p:nvPr/>
        </p:nvSpPr>
        <p:spPr bwMode="auto">
          <a:xfrm>
            <a:off x="8326265" y="1834411"/>
            <a:ext cx="3487418" cy="3375025"/>
          </a:xfrm>
          <a:prstGeom prst="rect">
            <a:avLst/>
          </a:prstGeom>
          <a:noFill/>
          <a:ln w="15875" cap="flat" cmpd="sng" algn="ctr">
            <a:solidFill>
              <a:srgbClr val="8C4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ln w="0"/>
                <a:solidFill>
                  <a:srgbClr val="FFFFFF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SaaS VPC (10.23)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(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e.g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DataDog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, </a:t>
            </a:r>
            <a:r>
              <a:rPr kumimoji="0" lang="en-US" altLang="ko-KR" sz="800" b="1" u="none" strike="noStrike" kern="0" cap="none" spc="0" normalizeH="0" baseline="0" noProof="0" dirty="0" err="1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Poralis</a:t>
            </a:r>
            <a:r>
              <a:rPr kumimoji="0" lang="en-US" altLang="ko-KR" sz="800" b="1" u="none" strike="noStrike" kern="0" cap="none" spc="0" normalizeH="0" baseline="0" noProof="0" dirty="0">
                <a:ln w="0"/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…)</a:t>
            </a:r>
            <a:endParaRPr kumimoji="0" lang="en-US" sz="800" b="1" u="none" strike="noStrike" kern="0" cap="none" spc="0" normalizeH="0" baseline="0" noProof="0" dirty="0">
              <a:ln w="0"/>
              <a:solidFill>
                <a:srgbClr val="FFFFFF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22" name="Rectangle 5">
            <a:extLst>
              <a:ext uri="{FF2B5EF4-FFF2-40B4-BE49-F238E27FC236}">
                <a16:creationId xmlns:a16="http://schemas.microsoft.com/office/drawing/2014/main" id="{CE80252C-932C-24C4-014B-F5257BE23FCA}"/>
              </a:ext>
            </a:extLst>
          </p:cNvPr>
          <p:cNvSpPr/>
          <p:nvPr/>
        </p:nvSpPr>
        <p:spPr bwMode="auto">
          <a:xfrm>
            <a:off x="10306647" y="1587661"/>
            <a:ext cx="1409834" cy="3717237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AZ B</a:t>
            </a:r>
          </a:p>
        </p:txBody>
      </p:sp>
      <p:sp>
        <p:nvSpPr>
          <p:cNvPr id="223" name="Rectangle 7">
            <a:extLst>
              <a:ext uri="{FF2B5EF4-FFF2-40B4-BE49-F238E27FC236}">
                <a16:creationId xmlns:a16="http://schemas.microsoft.com/office/drawing/2014/main" id="{C49EECF8-8D89-28E0-08D4-230214297557}"/>
              </a:ext>
            </a:extLst>
          </p:cNvPr>
          <p:cNvSpPr/>
          <p:nvPr/>
        </p:nvSpPr>
        <p:spPr>
          <a:xfrm>
            <a:off x="10353522" y="4467579"/>
            <a:ext cx="1310541" cy="658052"/>
          </a:xfrm>
          <a:prstGeom prst="rect">
            <a:avLst/>
          </a:prstGeom>
          <a:noFill/>
          <a:ln w="15875" cap="flat" cmpd="sng" algn="ctr">
            <a:solidFill>
              <a:srgbClr val="00A4A6"/>
            </a:solidFill>
            <a:prstDash val="solid"/>
            <a:miter lim="800000"/>
          </a:ln>
          <a:effectLst/>
        </p:spPr>
        <p:txBody>
          <a:bodyPr lIns="502920" tIns="91440" bIns="4572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24" name="Graphic 21">
            <a:extLst>
              <a:ext uri="{FF2B5EF4-FFF2-40B4-BE49-F238E27FC236}">
                <a16:creationId xmlns:a16="http://schemas.microsoft.com/office/drawing/2014/main" id="{ED593182-771A-D4B4-E680-EC45CD789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353522" y="4465719"/>
            <a:ext cx="381000" cy="381000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F1A3C847-AE05-1A70-9A87-D267252643C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1837" y="1687716"/>
            <a:ext cx="288000" cy="288000"/>
          </a:xfrm>
          <a:prstGeom prst="rect">
            <a:avLst/>
          </a:prstGeom>
        </p:spPr>
      </p:pic>
      <p:pic>
        <p:nvPicPr>
          <p:cNvPr id="234" name="그림 233">
            <a:extLst>
              <a:ext uri="{FF2B5EF4-FFF2-40B4-BE49-F238E27FC236}">
                <a16:creationId xmlns:a16="http://schemas.microsoft.com/office/drawing/2014/main" id="{28B89830-0CD0-05A4-7178-B31ED44ED9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1830" y="1661382"/>
            <a:ext cx="288000" cy="288000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B10AA01D-A9B8-B3EC-02D1-A63950A817E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87259" y="1665480"/>
            <a:ext cx="288000" cy="288000"/>
          </a:xfrm>
          <a:prstGeom prst="rect">
            <a:avLst/>
          </a:prstGeom>
        </p:spPr>
      </p:pic>
      <p:pic>
        <p:nvPicPr>
          <p:cNvPr id="255" name="그림 254">
            <a:extLst>
              <a:ext uri="{FF2B5EF4-FFF2-40B4-BE49-F238E27FC236}">
                <a16:creationId xmlns:a16="http://schemas.microsoft.com/office/drawing/2014/main" id="{ABDD6414-58D6-25C0-673E-13AA0B0718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777" y="4768615"/>
            <a:ext cx="288000" cy="288000"/>
          </a:xfrm>
          <a:prstGeom prst="rect">
            <a:avLst/>
          </a:prstGeom>
        </p:spPr>
      </p:pic>
      <p:pic>
        <p:nvPicPr>
          <p:cNvPr id="258" name="그림 257">
            <a:extLst>
              <a:ext uri="{FF2B5EF4-FFF2-40B4-BE49-F238E27FC236}">
                <a16:creationId xmlns:a16="http://schemas.microsoft.com/office/drawing/2014/main" id="{937DA0FB-6DD4-188F-3CC8-5158D397D2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5708" y="4765449"/>
            <a:ext cx="288000" cy="288000"/>
          </a:xfrm>
          <a:prstGeom prst="rect">
            <a:avLst/>
          </a:prstGeom>
        </p:spPr>
      </p:pic>
      <p:pic>
        <p:nvPicPr>
          <p:cNvPr id="264" name="그림 263">
            <a:extLst>
              <a:ext uri="{FF2B5EF4-FFF2-40B4-BE49-F238E27FC236}">
                <a16:creationId xmlns:a16="http://schemas.microsoft.com/office/drawing/2014/main" id="{F5311F98-68B0-EEBB-E6A2-2AEEDF6E862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1188" y="3514117"/>
            <a:ext cx="283279" cy="288000"/>
          </a:xfrm>
          <a:prstGeom prst="rect">
            <a:avLst/>
          </a:prstGeom>
        </p:spPr>
      </p:pic>
      <p:cxnSp>
        <p:nvCxnSpPr>
          <p:cNvPr id="269" name="직선 연결선[R] 268">
            <a:extLst>
              <a:ext uri="{FF2B5EF4-FFF2-40B4-BE49-F238E27FC236}">
                <a16:creationId xmlns:a16="http://schemas.microsoft.com/office/drawing/2014/main" id="{EA078134-526B-8DD5-7181-2A208E833F3F}"/>
              </a:ext>
            </a:extLst>
          </p:cNvPr>
          <p:cNvCxnSpPr>
            <a:stCxn id="190" idx="3"/>
            <a:endCxn id="264" idx="1"/>
          </p:cNvCxnSpPr>
          <p:nvPr/>
        </p:nvCxnSpPr>
        <p:spPr>
          <a:xfrm>
            <a:off x="7952895" y="3656648"/>
            <a:ext cx="2158293" cy="146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[E] 270">
            <a:extLst>
              <a:ext uri="{FF2B5EF4-FFF2-40B4-BE49-F238E27FC236}">
                <a16:creationId xmlns:a16="http://schemas.microsoft.com/office/drawing/2014/main" id="{770ECC7B-CD39-9BF1-363F-79B62B70A723}"/>
              </a:ext>
            </a:extLst>
          </p:cNvPr>
          <p:cNvCxnSpPr>
            <a:stCxn id="181" idx="3"/>
            <a:endCxn id="264" idx="1"/>
          </p:cNvCxnSpPr>
          <p:nvPr/>
        </p:nvCxnSpPr>
        <p:spPr>
          <a:xfrm flipV="1">
            <a:off x="6425214" y="3658117"/>
            <a:ext cx="3685974" cy="312857"/>
          </a:xfrm>
          <a:prstGeom prst="bentConnector3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" name="그림 275">
            <a:extLst>
              <a:ext uri="{FF2B5EF4-FFF2-40B4-BE49-F238E27FC236}">
                <a16:creationId xmlns:a16="http://schemas.microsoft.com/office/drawing/2014/main" id="{8F62EC61-1A1E-33FA-D47B-A558A508A6C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467" y="4091345"/>
            <a:ext cx="288000" cy="288000"/>
          </a:xfrm>
          <a:prstGeom prst="rect">
            <a:avLst/>
          </a:prstGeom>
        </p:spPr>
      </p:pic>
      <p:cxnSp>
        <p:nvCxnSpPr>
          <p:cNvPr id="278" name="직선 연결선[R] 277">
            <a:extLst>
              <a:ext uri="{FF2B5EF4-FFF2-40B4-BE49-F238E27FC236}">
                <a16:creationId xmlns:a16="http://schemas.microsoft.com/office/drawing/2014/main" id="{166BFBD3-F597-811C-33E2-457E4D824F51}"/>
              </a:ext>
            </a:extLst>
          </p:cNvPr>
          <p:cNvCxnSpPr>
            <a:stCxn id="264" idx="2"/>
            <a:endCxn id="276" idx="0"/>
          </p:cNvCxnSpPr>
          <p:nvPr/>
        </p:nvCxnSpPr>
        <p:spPr>
          <a:xfrm flipH="1">
            <a:off x="10250467" y="3802117"/>
            <a:ext cx="2361" cy="28922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[E] 282">
            <a:extLst>
              <a:ext uri="{FF2B5EF4-FFF2-40B4-BE49-F238E27FC236}">
                <a16:creationId xmlns:a16="http://schemas.microsoft.com/office/drawing/2014/main" id="{B7F48557-356B-61A5-2902-A665A8563636}"/>
              </a:ext>
            </a:extLst>
          </p:cNvPr>
          <p:cNvCxnSpPr>
            <a:cxnSpLocks/>
            <a:stCxn id="255" idx="0"/>
            <a:endCxn id="276" idx="1"/>
          </p:cNvCxnSpPr>
          <p:nvPr/>
        </p:nvCxnSpPr>
        <p:spPr>
          <a:xfrm rot="5400000" flipH="1" flipV="1">
            <a:off x="9561987" y="4224135"/>
            <a:ext cx="533270" cy="555690"/>
          </a:xfrm>
          <a:prstGeom prst="bentConnector2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[E] 286">
            <a:extLst>
              <a:ext uri="{FF2B5EF4-FFF2-40B4-BE49-F238E27FC236}">
                <a16:creationId xmlns:a16="http://schemas.microsoft.com/office/drawing/2014/main" id="{31E1F585-127D-570D-0258-A8C15747CD2E}"/>
              </a:ext>
            </a:extLst>
          </p:cNvPr>
          <p:cNvCxnSpPr>
            <a:cxnSpLocks/>
            <a:stCxn id="258" idx="0"/>
            <a:endCxn id="276" idx="3"/>
          </p:cNvCxnSpPr>
          <p:nvPr/>
        </p:nvCxnSpPr>
        <p:spPr>
          <a:xfrm rot="16200000" flipV="1">
            <a:off x="10492036" y="4137776"/>
            <a:ext cx="530104" cy="725241"/>
          </a:xfrm>
          <a:prstGeom prst="bentConnector2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3" name="그림 292">
            <a:extLst>
              <a:ext uri="{FF2B5EF4-FFF2-40B4-BE49-F238E27FC236}">
                <a16:creationId xmlns:a16="http://schemas.microsoft.com/office/drawing/2014/main" id="{93266FDE-BB93-9B9D-E635-9D50C85C047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015" y="3513721"/>
            <a:ext cx="288000" cy="288000"/>
          </a:xfrm>
          <a:prstGeom prst="rect">
            <a:avLst/>
          </a:prstGeom>
        </p:spPr>
      </p:pic>
      <p:pic>
        <p:nvPicPr>
          <p:cNvPr id="294" name="그림 293">
            <a:extLst>
              <a:ext uri="{FF2B5EF4-FFF2-40B4-BE49-F238E27FC236}">
                <a16:creationId xmlns:a16="http://schemas.microsoft.com/office/drawing/2014/main" id="{3D10D9C3-171B-2337-002B-95C7BCD9927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129" y="3510175"/>
            <a:ext cx="288000" cy="288000"/>
          </a:xfrm>
          <a:prstGeom prst="rect">
            <a:avLst/>
          </a:prstGeom>
        </p:spPr>
      </p:pic>
      <p:cxnSp>
        <p:nvCxnSpPr>
          <p:cNvPr id="296" name="직선 화살표 연결선 295">
            <a:extLst>
              <a:ext uri="{FF2B5EF4-FFF2-40B4-BE49-F238E27FC236}">
                <a16:creationId xmlns:a16="http://schemas.microsoft.com/office/drawing/2014/main" id="{DA707645-9282-A59C-90E8-634C8A244836}"/>
              </a:ext>
            </a:extLst>
          </p:cNvPr>
          <p:cNvCxnSpPr>
            <a:stCxn id="293" idx="3"/>
            <a:endCxn id="294" idx="1"/>
          </p:cNvCxnSpPr>
          <p:nvPr/>
        </p:nvCxnSpPr>
        <p:spPr>
          <a:xfrm flipV="1">
            <a:off x="4181015" y="3654175"/>
            <a:ext cx="727114" cy="3546"/>
          </a:xfrm>
          <a:prstGeom prst="straightConnector1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구부러진 연결선[U] 297">
            <a:extLst>
              <a:ext uri="{FF2B5EF4-FFF2-40B4-BE49-F238E27FC236}">
                <a16:creationId xmlns:a16="http://schemas.microsoft.com/office/drawing/2014/main" id="{1EDB6D8C-2B0E-0EBF-77AE-CE9881A9F82F}"/>
              </a:ext>
            </a:extLst>
          </p:cNvPr>
          <p:cNvCxnSpPr>
            <a:cxnSpLocks/>
            <a:stCxn id="145" idx="0"/>
            <a:endCxn id="293" idx="1"/>
          </p:cNvCxnSpPr>
          <p:nvPr/>
        </p:nvCxnSpPr>
        <p:spPr>
          <a:xfrm rot="5400000" flipH="1" flipV="1">
            <a:off x="3518124" y="3409209"/>
            <a:ext cx="126378" cy="623403"/>
          </a:xfrm>
          <a:prstGeom prst="curvedConnector2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구부러진 연결선[U] 301">
            <a:extLst>
              <a:ext uri="{FF2B5EF4-FFF2-40B4-BE49-F238E27FC236}">
                <a16:creationId xmlns:a16="http://schemas.microsoft.com/office/drawing/2014/main" id="{7E28716E-F682-F386-0BB8-50FB24B4A1C7}"/>
              </a:ext>
            </a:extLst>
          </p:cNvPr>
          <p:cNvCxnSpPr>
            <a:cxnSpLocks/>
            <a:stCxn id="294" idx="2"/>
            <a:endCxn id="181" idx="1"/>
          </p:cNvCxnSpPr>
          <p:nvPr/>
        </p:nvCxnSpPr>
        <p:spPr>
          <a:xfrm rot="16200000" flipH="1">
            <a:off x="5508272" y="3342031"/>
            <a:ext cx="172799" cy="1085085"/>
          </a:xfrm>
          <a:prstGeom prst="curvedConnector2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화살표 연결선 308">
            <a:extLst>
              <a:ext uri="{FF2B5EF4-FFF2-40B4-BE49-F238E27FC236}">
                <a16:creationId xmlns:a16="http://schemas.microsoft.com/office/drawing/2014/main" id="{BE0CABC2-BB67-5E86-49A5-03DCC9E0FE54}"/>
              </a:ext>
            </a:extLst>
          </p:cNvPr>
          <p:cNvCxnSpPr>
            <a:stCxn id="294" idx="3"/>
            <a:endCxn id="190" idx="1"/>
          </p:cNvCxnSpPr>
          <p:nvPr/>
        </p:nvCxnSpPr>
        <p:spPr>
          <a:xfrm>
            <a:off x="5196129" y="3654175"/>
            <a:ext cx="2468766" cy="2473"/>
          </a:xfrm>
          <a:prstGeom prst="straightConnector1">
            <a:avLst/>
          </a:prstGeom>
          <a:ln w="19050" cap="rnd">
            <a:solidFill>
              <a:srgbClr val="FFC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3" name="그림 322">
            <a:extLst>
              <a:ext uri="{FF2B5EF4-FFF2-40B4-BE49-F238E27FC236}">
                <a16:creationId xmlns:a16="http://schemas.microsoft.com/office/drawing/2014/main" id="{85BE8A9C-417C-2EC0-FD56-947E58541A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816" y="4777397"/>
            <a:ext cx="288000" cy="288000"/>
          </a:xfrm>
          <a:prstGeom prst="rect">
            <a:avLst/>
          </a:prstGeom>
        </p:spPr>
      </p:pic>
      <p:pic>
        <p:nvPicPr>
          <p:cNvPr id="324" name="그림 323">
            <a:extLst>
              <a:ext uri="{FF2B5EF4-FFF2-40B4-BE49-F238E27FC236}">
                <a16:creationId xmlns:a16="http://schemas.microsoft.com/office/drawing/2014/main" id="{3308734E-EF1E-DA85-E6F9-CEE63EE766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799" y="4777397"/>
            <a:ext cx="288000" cy="28800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726BD85B-697F-B894-F6F7-7326B867988A}"/>
              </a:ext>
            </a:extLst>
          </p:cNvPr>
          <p:cNvGrpSpPr/>
          <p:nvPr/>
        </p:nvGrpSpPr>
        <p:grpSpPr>
          <a:xfrm>
            <a:off x="4057606" y="5766146"/>
            <a:ext cx="815322" cy="365125"/>
            <a:chOff x="10221552" y="5826981"/>
            <a:chExt cx="815322" cy="365125"/>
          </a:xfrm>
        </p:grpSpPr>
        <p:sp>
          <p:nvSpPr>
            <p:cNvPr id="240" name="모서리가 둥근 직사각형 239">
              <a:extLst>
                <a:ext uri="{FF2B5EF4-FFF2-40B4-BE49-F238E27FC236}">
                  <a16:creationId xmlns:a16="http://schemas.microsoft.com/office/drawing/2014/main" id="{83868E47-F3F3-D497-730D-D8A6FC033F74}"/>
                </a:ext>
              </a:extLst>
            </p:cNvPr>
            <p:cNvSpPr/>
            <p:nvPr/>
          </p:nvSpPr>
          <p:spPr>
            <a:xfrm>
              <a:off x="10221553" y="5826981"/>
              <a:ext cx="815321" cy="365125"/>
            </a:xfrm>
            <a:prstGeom prst="roundRect">
              <a:avLst>
                <a:gd name="adj" fmla="val 8311"/>
              </a:avLst>
            </a:prstGeom>
            <a:solidFill>
              <a:srgbClr val="FF8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A21F3F03-681C-519A-8DB2-CB1B6726CEFD}"/>
                </a:ext>
              </a:extLst>
            </p:cNvPr>
            <p:cNvSpPr txBox="1"/>
            <p:nvPr/>
          </p:nvSpPr>
          <p:spPr>
            <a:xfrm>
              <a:off x="10221552" y="5832075"/>
              <a:ext cx="8153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ore-KR" sz="800" b="1" kern="0" dirty="0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Arial" panose="020B0604020202020204" pitchFamily="34" charset="0"/>
                </a:rPr>
                <a:t>Cross Region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ore-KR" sz="800" b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SquareOTF Bold" panose="020B0600000101010101" pitchFamily="34" charset="-127"/>
                  <a:ea typeface="NanumSquareOTF Bold" panose="020B0600000101010101" pitchFamily="34" charset="-127"/>
                  <a:cs typeface="Arial" panose="020B0604020202020204" pitchFamily="34" charset="0"/>
                </a:rPr>
                <a:t>VPC Peering</a:t>
              </a:r>
            </a:p>
          </p:txBody>
        </p: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E0525351-2FFE-B7B6-3D51-BA6DD727566B}"/>
              </a:ext>
            </a:extLst>
          </p:cNvPr>
          <p:cNvSpPr txBox="1"/>
          <p:nvPr/>
        </p:nvSpPr>
        <p:spPr>
          <a:xfrm>
            <a:off x="10239576" y="3548573"/>
            <a:ext cx="9470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ore-KR" sz="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Private Link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81FE1D5D-7A8A-C2C5-6CAA-063B81A7C42E}"/>
              </a:ext>
            </a:extLst>
          </p:cNvPr>
          <p:cNvSpPr txBox="1"/>
          <p:nvPr/>
        </p:nvSpPr>
        <p:spPr>
          <a:xfrm>
            <a:off x="10342236" y="4018553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ore-KR" sz="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NLB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CCAB59-19A2-8474-8826-0190D7BBA86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318" y="5076743"/>
            <a:ext cx="288000" cy="28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0D22F00-E3B4-7B2E-4B7A-DDBC249A6A8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882" y="5071745"/>
            <a:ext cx="288000" cy="288000"/>
          </a:xfrm>
          <a:prstGeom prst="rect">
            <a:avLst/>
          </a:prstGeom>
        </p:spPr>
      </p:pic>
      <p:cxnSp>
        <p:nvCxnSpPr>
          <p:cNvPr id="9" name="꺾인 연결선[E] 8">
            <a:extLst>
              <a:ext uri="{FF2B5EF4-FFF2-40B4-BE49-F238E27FC236}">
                <a16:creationId xmlns:a16="http://schemas.microsoft.com/office/drawing/2014/main" id="{F136B271-5B07-B60C-33FB-C8A58582016E}"/>
              </a:ext>
            </a:extLst>
          </p:cNvPr>
          <p:cNvCxnSpPr>
            <a:stCxn id="5" idx="2"/>
            <a:endCxn id="315" idx="1"/>
          </p:cNvCxnSpPr>
          <p:nvPr/>
        </p:nvCxnSpPr>
        <p:spPr>
          <a:xfrm rot="16200000" flipH="1">
            <a:off x="2958575" y="4841486"/>
            <a:ext cx="575774" cy="1622288"/>
          </a:xfrm>
          <a:prstGeom prst="bentConnector2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71554A82-1735-4CBB-D2B0-E97929DD9EEE}"/>
              </a:ext>
            </a:extLst>
          </p:cNvPr>
          <p:cNvCxnSpPr>
            <a:cxnSpLocks/>
            <a:stCxn id="6" idx="2"/>
            <a:endCxn id="315" idx="3"/>
          </p:cNvCxnSpPr>
          <p:nvPr/>
        </p:nvCxnSpPr>
        <p:spPr>
          <a:xfrm rot="5400000">
            <a:off x="5449519" y="4783154"/>
            <a:ext cx="580772" cy="1733955"/>
          </a:xfrm>
          <a:prstGeom prst="bentConnector2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48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2EF07-0FE7-7288-6D7B-597085112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6056"/>
            <a:ext cx="10972800" cy="538353"/>
          </a:xfrm>
        </p:spPr>
        <p:txBody>
          <a:bodyPr/>
          <a:lstStyle/>
          <a:p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4.Private Host Zone </a:t>
            </a:r>
            <a:r>
              <a:rPr kumimoji="1" lang="ko-KR" altLang="en-US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(Owner)</a:t>
            </a:r>
            <a:r>
              <a:rPr kumimoji="1" lang="en-US" altLang="ko-Kore-KR" dirty="0"/>
              <a:t> </a:t>
            </a:r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741C1E5-A58B-9F2F-2AAC-04B05C79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3A29A5-F6A5-D1D5-E6D7-A2588D331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46379"/>
            <a:ext cx="3652051" cy="5367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4FF05C-9A95-C0C6-8F36-E33F70B0F919}"/>
              </a:ext>
            </a:extLst>
          </p:cNvPr>
          <p:cNvSpPr txBox="1"/>
          <p:nvPr/>
        </p:nvSpPr>
        <p:spPr>
          <a:xfrm>
            <a:off x="5117000" y="1246379"/>
            <a:ext cx="420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1. Private Host Zone </a:t>
            </a:r>
            <a:r>
              <a:rPr lang="ko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A6987-29F7-B363-13D1-1277A9BC397E}"/>
              </a:ext>
            </a:extLst>
          </p:cNvPr>
          <p:cNvSpPr txBox="1"/>
          <p:nvPr/>
        </p:nvSpPr>
        <p:spPr>
          <a:xfrm>
            <a:off x="5347068" y="1538006"/>
            <a:ext cx="6235332" cy="707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Provider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가 위치한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Route 53 PHZ(Private Host Zone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)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및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01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FB5D4-3042-4AB4-7611-D48D2214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4.Private Host Zone </a:t>
            </a:r>
            <a:r>
              <a:rPr kumimoji="1" lang="ko-KR" altLang="en-US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(Owner)</a:t>
            </a:r>
            <a:r>
              <a:rPr kumimoji="1" lang="en-US" altLang="ko-Kore-KR" dirty="0"/>
              <a:t> </a:t>
            </a:r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AA1C61C-4D29-836A-BE91-5D17805A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5557D9-B612-6029-2593-A0FFBF8AA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22095"/>
            <a:ext cx="4459658" cy="38439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97A255-AA4F-6616-4E21-DA3F313657F7}"/>
              </a:ext>
            </a:extLst>
          </p:cNvPr>
          <p:cNvSpPr txBox="1"/>
          <p:nvPr/>
        </p:nvSpPr>
        <p:spPr>
          <a:xfrm>
            <a:off x="5117000" y="1273494"/>
            <a:ext cx="420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2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 Private Host Zone </a:t>
            </a: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/ Record </a:t>
            </a:r>
            <a:r>
              <a:rPr lang="ko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122B4-4B69-5B17-0995-14EC8152451F}"/>
              </a:ext>
            </a:extLst>
          </p:cNvPr>
          <p:cNvSpPr txBox="1"/>
          <p:nvPr/>
        </p:nvSpPr>
        <p:spPr>
          <a:xfrm>
            <a:off x="5347068" y="1565121"/>
            <a:ext cx="6235332" cy="1677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Record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이름과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Type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Alias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구성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Alias Type – VPC Endpoint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– VPC Endpoint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가 위치한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Region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DNS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–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대표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DNS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선택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40CB2-784E-E91D-D881-4B1162517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4.Private Host Zone </a:t>
            </a:r>
            <a:r>
              <a:rPr kumimoji="1" lang="ko-KR" altLang="en-US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(Owner)</a:t>
            </a:r>
            <a:r>
              <a:rPr kumimoji="1" lang="en-US" altLang="ko-Kore-KR" dirty="0"/>
              <a:t> </a:t>
            </a:r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085DE25-2412-5032-4E5B-43B31181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A7081D-CDF9-7648-AB11-F6EFAB07E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9041"/>
            <a:ext cx="7772400" cy="26687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786B91-2494-99FA-CBD0-751277D37A75}"/>
              </a:ext>
            </a:extLst>
          </p:cNvPr>
          <p:cNvSpPr txBox="1"/>
          <p:nvPr/>
        </p:nvSpPr>
        <p:spPr>
          <a:xfrm>
            <a:off x="5117000" y="4283255"/>
            <a:ext cx="420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3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 Private Host Zone </a:t>
            </a: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/ Record </a:t>
            </a:r>
            <a:r>
              <a:rPr lang="ko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확인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44996-6852-4849-3402-885F198EACD0}"/>
              </a:ext>
            </a:extLst>
          </p:cNvPr>
          <p:cNvSpPr txBox="1"/>
          <p:nvPr/>
        </p:nvSpPr>
        <p:spPr>
          <a:xfrm>
            <a:off x="5347068" y="4574882"/>
            <a:ext cx="6235332" cy="707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Host zone ID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및 연결된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확인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Record Name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확인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75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50A5C-1B06-0625-E667-AE6E66BA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4.Private Host Zone </a:t>
            </a:r>
            <a:r>
              <a:rPr kumimoji="1" lang="ko-KR" altLang="en-US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(Owner)</a:t>
            </a:r>
            <a:r>
              <a:rPr kumimoji="1" lang="en-US" altLang="ko-Kore-KR" dirty="0"/>
              <a:t> </a:t>
            </a:r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32C934-08E3-068C-867E-5B62098D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A11EB-A236-92F5-5321-F0F345517319}"/>
              </a:ext>
            </a:extLst>
          </p:cNvPr>
          <p:cNvSpPr txBox="1"/>
          <p:nvPr/>
        </p:nvSpPr>
        <p:spPr>
          <a:xfrm>
            <a:off x="609600" y="1522635"/>
            <a:ext cx="10972800" cy="4385816"/>
          </a:xfrm>
          <a:prstGeom prst="rect">
            <a:avLst/>
          </a:prstGeom>
          <a:noFill/>
          <a:ln>
            <a:solidFill>
              <a:srgbClr val="FF85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400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4.</a:t>
            </a:r>
            <a:r>
              <a:rPr lang="en-US" altLang="ko-Kore-KR" sz="1400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PHZ Owner </a:t>
            </a:r>
            <a:r>
              <a:rPr lang="ko-Kore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Consumer VPC association </a:t>
            </a:r>
            <a:r>
              <a:rPr lang="ko-Kore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ore-KR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aws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route53 \</a:t>
            </a:r>
          </a:p>
          <a:p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create-</a:t>
            </a:r>
            <a:r>
              <a:rPr lang="en-US" altLang="ko-Kore-KR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vpc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-association-authorization \</a:t>
            </a:r>
          </a:p>
          <a:p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--hosted-zone-id ${Route53 PHZ Owner – hosted-zone-id} \</a:t>
            </a:r>
          </a:p>
          <a:p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</a:t>
            </a:r>
            <a:r>
              <a:rPr lang="en-US" altLang="ko-Kore-KR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vpc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ore-KR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VPCRegion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=${PHZ Guest </a:t>
            </a:r>
            <a:r>
              <a:rPr lang="en-US" altLang="ko-Kore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VPC Region}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ore-KR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VPCId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=${PHZ Guest </a:t>
            </a:r>
            <a:r>
              <a:rPr lang="en-US" altLang="ko-Kore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VPC ID}</a:t>
            </a:r>
          </a:p>
          <a:p>
            <a:endParaRPr lang="en-US" altLang="ko-Kore-KR" sz="1600" b="1" dirty="0">
              <a:solidFill>
                <a:srgbClr val="FF8500"/>
              </a:solidFill>
              <a:latin typeface="D2Coding" panose="020B0609020101020101" pitchFamily="49" charset="-127"/>
              <a:ea typeface="D2Coding" panose="020B0609020101020101" pitchFamily="49" charset="-127"/>
              <a:cs typeface="Arial" panose="020B0604020202020204" pitchFamily="34" charset="0"/>
            </a:endParaRPr>
          </a:p>
          <a:p>
            <a:r>
              <a:rPr lang="en-US" altLang="ko-Kore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# </a:t>
            </a:r>
            <a:r>
              <a:rPr lang="ko-Kore-KR" altLang="en-US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예</a:t>
            </a:r>
            <a:endParaRPr lang="en-US" altLang="ko-Kore-KR" sz="16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$ 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aws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route53 \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&gt; create-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-association-authorization \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&gt; --hosted-zone-id Z01276392UX5G127666J6 \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&gt; --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VPCRegion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=ap-northeast-2,VPCId=vpc-029cfb5017338aac2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{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HostedZoneId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"Z01276392UX5G127666J6",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"VPC": {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VPCRegion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"ap-northeast-2",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VPCId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"vpc-029cfb5017338aac2"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}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839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50A5C-1B06-0625-E667-AE6E66BA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5.Private Host Zone </a:t>
            </a:r>
            <a:r>
              <a:rPr kumimoji="1" lang="ko-KR" altLang="en-US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(</a:t>
            </a:r>
            <a:r>
              <a:rPr kumimoji="1" lang="en-US" altLang="ko-KR" dirty="0"/>
              <a:t>Guest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r>
              <a:rPr kumimoji="1" lang="en-US" altLang="ko-Kore-KR" dirty="0"/>
              <a:t> </a:t>
            </a:r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32C934-08E3-068C-867E-5B62098D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A11EB-A236-92F5-5321-F0F345517319}"/>
              </a:ext>
            </a:extLst>
          </p:cNvPr>
          <p:cNvSpPr txBox="1"/>
          <p:nvPr/>
        </p:nvSpPr>
        <p:spPr>
          <a:xfrm>
            <a:off x="609600" y="1522635"/>
            <a:ext cx="10972800" cy="4816703"/>
          </a:xfrm>
          <a:prstGeom prst="rect">
            <a:avLst/>
          </a:prstGeom>
          <a:noFill/>
          <a:ln>
            <a:solidFill>
              <a:srgbClr val="FF85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400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1.</a:t>
            </a:r>
            <a:r>
              <a:rPr lang="en-US" altLang="ko-Kore-KR" sz="1400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PHZ Guest</a:t>
            </a:r>
            <a:r>
              <a:rPr lang="ko-Kore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생성된 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Hosted zone</a:t>
            </a:r>
            <a:r>
              <a:rPr lang="ko-Kore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으로 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Associate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ore-KR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aws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route53 \</a:t>
            </a:r>
          </a:p>
          <a:p>
            <a:r>
              <a:rPr lang="en-US" altLang="ko-Kore-KR" sz="1600" b="0" dirty="0">
                <a:solidFill>
                  <a:srgbClr val="E6EDF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associate-</a:t>
            </a:r>
            <a:r>
              <a:rPr lang="en-US" altLang="ko-Kore-KR" sz="1600" b="0" dirty="0" err="1">
                <a:solidFill>
                  <a:srgbClr val="E6EDF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vpc</a:t>
            </a:r>
            <a:r>
              <a:rPr lang="en-US" altLang="ko-Kore-KR" sz="1600" b="0" dirty="0">
                <a:solidFill>
                  <a:srgbClr val="E6EDF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-with-hosted-zone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\</a:t>
            </a:r>
          </a:p>
          <a:p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--hosted-zone-id ${Route53 PHZ Owner – hosted-zone-id} \</a:t>
            </a:r>
          </a:p>
          <a:p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</a:t>
            </a:r>
            <a:r>
              <a:rPr lang="en-US" altLang="ko-Kore-KR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vpc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ore-KR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VPCRegion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=${PHZ Guest </a:t>
            </a:r>
            <a:r>
              <a:rPr lang="en-US" altLang="ko-Kore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VPC Region}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ore-KR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VPCId</a:t>
            </a:r>
            <a:r>
              <a:rPr lang="en-US" altLang="ko-Kore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=${PHZ Guest </a:t>
            </a:r>
            <a:r>
              <a:rPr lang="en-US" altLang="ko-Kore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VPC ID}</a:t>
            </a:r>
          </a:p>
          <a:p>
            <a:endParaRPr lang="en-US" altLang="ko-Kore-KR" sz="1600" b="1" dirty="0">
              <a:solidFill>
                <a:srgbClr val="FF8500"/>
              </a:solidFill>
              <a:latin typeface="D2Coding" panose="020B0609020101020101" pitchFamily="49" charset="-127"/>
              <a:ea typeface="D2Coding" panose="020B0609020101020101" pitchFamily="49" charset="-127"/>
              <a:cs typeface="Arial" panose="020B0604020202020204" pitchFamily="34" charset="0"/>
            </a:endParaRPr>
          </a:p>
          <a:p>
            <a:r>
              <a:rPr lang="en-US" altLang="ko-Kore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# </a:t>
            </a:r>
            <a:r>
              <a:rPr lang="ko-Kore-KR" altLang="en-US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예</a:t>
            </a:r>
            <a:endParaRPr lang="en-US" altLang="ko-Kore-KR" sz="16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$ 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aws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route53 \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&gt; associate-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-with-hosted-zone \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&gt; --hosted-zone-id Z01276392UX5G127666J6 \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&gt; --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VPCRegion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=ap-northeast-2,VPCId=vpc-029cfb5017338aac2 \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&gt; --comment "VPC Endpoint for BOM Region SaaS"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{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ChangeInfo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{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"Id": "/change/C0342521RFDV0C2LUFE9",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"Status": "PENDING",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SubmittedAt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"2023-10-15T08:37:16.239000+00:00",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"Comment": "VPC Endpoint for BOM Region SaaS"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}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1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50A5C-1B06-0625-E667-AE6E66BA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5.Private Host Zone </a:t>
            </a:r>
            <a:r>
              <a:rPr kumimoji="1" lang="ko-KR" altLang="en-US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(</a:t>
            </a:r>
            <a:r>
              <a:rPr kumimoji="1" lang="en-US" altLang="ko-KR" dirty="0"/>
              <a:t>Guest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r>
              <a:rPr kumimoji="1" lang="en-US" altLang="ko-Kore-KR" dirty="0"/>
              <a:t> </a:t>
            </a:r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32C934-08E3-068C-867E-5B62098D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A11EB-A236-92F5-5321-F0F345517319}"/>
              </a:ext>
            </a:extLst>
          </p:cNvPr>
          <p:cNvSpPr txBox="1"/>
          <p:nvPr/>
        </p:nvSpPr>
        <p:spPr>
          <a:xfrm>
            <a:off x="609600" y="1522635"/>
            <a:ext cx="10972800" cy="4893647"/>
          </a:xfrm>
          <a:prstGeom prst="rect">
            <a:avLst/>
          </a:prstGeom>
          <a:noFill/>
          <a:ln>
            <a:solidFill>
              <a:srgbClr val="FF85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2.</a:t>
            </a:r>
            <a:r>
              <a:rPr lang="en-US" altLang="ko-Kore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ko-Kore-KR" altLang="en-US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생성된 </a:t>
            </a:r>
            <a:r>
              <a:rPr lang="en-US" altLang="ko-Kore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PHZ </a:t>
            </a:r>
            <a:r>
              <a:rPr lang="ko-Kore-KR" altLang="en-US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목록 확인</a:t>
            </a:r>
            <a:r>
              <a:rPr lang="en-US" altLang="ko-Kore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</a:t>
            </a:r>
          </a:p>
          <a:p>
            <a:endParaRPr lang="en-US" altLang="ko-Kore-KR" sz="16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$ 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aws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route53 list-hosted-zones-by-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--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-id vpc-029cfb5017338aac2 --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vpc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-region ap-northeast-2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{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HostedZoneSummaries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[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{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HostedZoneId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"Z01276392UX5G127666J6",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    "Name":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bomsaas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.",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    "Owner": {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    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OwningAccount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"591624136968"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    }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},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{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HostedZoneId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"Z0145549QU3UA9EE938X",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    "Name":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iadsaas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.",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    "Owner": {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    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OwningAccount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"184201886583"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    }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    }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],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   "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MaxItems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": "100"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483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E6AA6-065A-2C84-0F22-6654A270E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5.Private Host Zone </a:t>
            </a:r>
            <a:r>
              <a:rPr kumimoji="1" lang="ko-KR" altLang="en-US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(</a:t>
            </a:r>
            <a:r>
              <a:rPr kumimoji="1" lang="en-US" altLang="ko-KR" dirty="0"/>
              <a:t>Guest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r>
              <a:rPr kumimoji="1" lang="en-US" altLang="ko-Kore-KR" dirty="0"/>
              <a:t> </a:t>
            </a:r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AABB2F-B14B-9DDC-526C-75406731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113B6B-8F18-39C6-261D-5F55B2D6C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00100"/>
            <a:ext cx="7772400" cy="2694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1D1D23-DC12-2E91-E781-8F85EA8C379F}"/>
              </a:ext>
            </a:extLst>
          </p:cNvPr>
          <p:cNvSpPr txBox="1"/>
          <p:nvPr/>
        </p:nvSpPr>
        <p:spPr>
          <a:xfrm>
            <a:off x="5117000" y="4269141"/>
            <a:ext cx="420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3</a:t>
            </a:r>
            <a:r>
              <a:rPr lang="en-US" altLang="ko-Kore-KR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 Private Host Zone </a:t>
            </a:r>
            <a:r>
              <a:rPr lang="ko-Kore-KR" altLang="en-US" sz="14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확인</a:t>
            </a:r>
            <a:endParaRPr lang="en-US" altLang="ko-Kore-KR" sz="1400" b="1" dirty="0">
              <a:solidFill>
                <a:srgbClr val="FF85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EE918-A542-50D6-21F6-8D947560753C}"/>
              </a:ext>
            </a:extLst>
          </p:cNvPr>
          <p:cNvSpPr txBox="1"/>
          <p:nvPr/>
        </p:nvSpPr>
        <p:spPr>
          <a:xfrm>
            <a:off x="5347068" y="4560768"/>
            <a:ext cx="6235332" cy="707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UcPeriod"/>
              <a:defRPr/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Provider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가 위치한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Account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, 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앞서 생성된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Hosted Zone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정상적으로 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Associated </a:t>
            </a:r>
            <a:r>
              <a:rPr lang="ko-Kore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되었는지 확인</a:t>
            </a:r>
            <a:r>
              <a:rPr lang="en-US" altLang="ko-Kore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08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50A5C-1B06-0625-E667-AE6E66BA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5.Private Host Zone </a:t>
            </a:r>
            <a:r>
              <a:rPr kumimoji="1" lang="ko-KR" altLang="en-US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구성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(</a:t>
            </a:r>
            <a:r>
              <a:rPr kumimoji="1" lang="en-US" altLang="ko-KR" dirty="0"/>
              <a:t>Guest</a:t>
            </a:r>
            <a:r>
              <a:rPr kumimoji="1" lang="en-US" altLang="ko-KR" sz="32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r>
              <a:rPr kumimoji="1" lang="en-US" altLang="ko-Kore-KR" dirty="0"/>
              <a:t> </a:t>
            </a:r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32C934-08E3-068C-867E-5B62098D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A11EB-A236-92F5-5321-F0F345517319}"/>
              </a:ext>
            </a:extLst>
          </p:cNvPr>
          <p:cNvSpPr txBox="1"/>
          <p:nvPr/>
        </p:nvSpPr>
        <p:spPr>
          <a:xfrm>
            <a:off x="609600" y="1522635"/>
            <a:ext cx="10972800" cy="3139321"/>
          </a:xfrm>
          <a:prstGeom prst="rect">
            <a:avLst/>
          </a:prstGeom>
          <a:noFill/>
          <a:ln>
            <a:solidFill>
              <a:srgbClr val="FF85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4.</a:t>
            </a:r>
            <a:r>
              <a:rPr lang="en-US" altLang="ko-Kore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Consumer VPC</a:t>
            </a:r>
            <a:r>
              <a:rPr lang="ko-Kore-KR" altLang="en-US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에서 </a:t>
            </a:r>
            <a:r>
              <a:rPr lang="en-US" altLang="ko-Kore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VPC Endpoint</a:t>
            </a:r>
            <a:r>
              <a:rPr lang="ko-Kore-KR" altLang="en-US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로 </a:t>
            </a:r>
            <a:r>
              <a:rPr lang="en-US" altLang="ko-Kore-KR" sz="1600" b="1" dirty="0" err="1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nslookup</a:t>
            </a:r>
            <a:r>
              <a:rPr lang="en-US" altLang="ko-Kore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ko-Kore-KR" altLang="en-US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및 서비스 확인</a:t>
            </a:r>
            <a:r>
              <a:rPr lang="en-US" altLang="ko-Kore-KR" sz="1600" b="1" dirty="0">
                <a:solidFill>
                  <a:srgbClr val="FF85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.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# 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nslookup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ep.bomsaas</a:t>
            </a:r>
            <a:endParaRPr lang="en-US" altLang="ko-Kore-KR" sz="1400" dirty="0">
              <a:solidFill>
                <a:srgbClr val="FF8500"/>
              </a:solidFill>
              <a:latin typeface="D2Coding" panose="020B0609020101020101" pitchFamily="49" charset="-127"/>
              <a:ea typeface="D2Coding" panose="020B0609020101020101" pitchFamily="49" charset="-127"/>
              <a:cs typeface="Arial" panose="020B0604020202020204" pitchFamily="34" charset="0"/>
            </a:endParaRP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Server:         10.11.0.2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Address:        10.11.0.2#53</a:t>
            </a:r>
          </a:p>
          <a:p>
            <a:endParaRPr lang="en-US" altLang="ko-Kore-KR" sz="1400" dirty="0">
              <a:solidFill>
                <a:srgbClr val="FF8500"/>
              </a:solidFill>
              <a:latin typeface="D2Coding" panose="020B0609020101020101" pitchFamily="49" charset="-127"/>
              <a:ea typeface="D2Coding" panose="020B0609020101020101" pitchFamily="49" charset="-127"/>
              <a:cs typeface="Arial" panose="020B0604020202020204" pitchFamily="34" charset="0"/>
            </a:endParaRP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Non-authoritative answer: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Name:   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ep.bomsaas</a:t>
            </a:r>
            <a:endParaRPr lang="en-US" altLang="ko-Kore-KR" sz="1400" dirty="0">
              <a:solidFill>
                <a:srgbClr val="FF8500"/>
              </a:solidFill>
              <a:latin typeface="D2Coding" panose="020B0609020101020101" pitchFamily="49" charset="-127"/>
              <a:ea typeface="D2Coding" panose="020B0609020101020101" pitchFamily="49" charset="-127"/>
              <a:cs typeface="Arial" panose="020B0604020202020204" pitchFamily="34" charset="0"/>
            </a:endParaRP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Address: 10.12.22.201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Name:   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ep.bomsaas</a:t>
            </a:r>
            <a:endParaRPr lang="en-US" altLang="ko-Kore-KR" sz="1400" dirty="0">
              <a:solidFill>
                <a:srgbClr val="FF8500"/>
              </a:solidFill>
              <a:latin typeface="D2Coding" panose="020B0609020101020101" pitchFamily="49" charset="-127"/>
              <a:ea typeface="D2Coding" panose="020B0609020101020101" pitchFamily="49" charset="-127"/>
              <a:cs typeface="Arial" panose="020B0604020202020204" pitchFamily="34" charset="0"/>
            </a:endParaRP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Address: 10.12.21.201    }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}</a:t>
            </a:r>
          </a:p>
          <a:p>
            <a:endParaRPr lang="en-US" altLang="ko-Kore-KR" sz="1400" dirty="0">
              <a:solidFill>
                <a:srgbClr val="FF8500"/>
              </a:solidFill>
              <a:latin typeface="D2Coding" panose="020B0609020101020101" pitchFamily="49" charset="-127"/>
              <a:ea typeface="D2Coding" panose="020B0609020101020101" pitchFamily="49" charset="-127"/>
              <a:cs typeface="Arial" panose="020B0604020202020204" pitchFamily="34" charset="0"/>
            </a:endParaRP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# curl 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ep.bomsaas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/ec2meta-webpage/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index.php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 | grep "Client"</a:t>
            </a:r>
          </a:p>
          <a:p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&lt;p&gt;Client: curl/8.3.0&lt;</a:t>
            </a:r>
            <a:r>
              <a:rPr lang="en-US" altLang="ko-Kore-KR" sz="1400" dirty="0" err="1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br</a:t>
            </a:r>
            <a:r>
              <a:rPr lang="en-US" altLang="ko-Kore-KR" sz="1400" dirty="0">
                <a:solidFill>
                  <a:srgbClr val="FF85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Arial" panose="020B0604020202020204" pitchFamily="34" charset="0"/>
              </a:rPr>
              <a:t>&gt;IP: 10.13.22.15&lt;/p&gt;</a:t>
            </a:r>
          </a:p>
        </p:txBody>
      </p:sp>
    </p:spTree>
    <p:extLst>
      <p:ext uri="{BB962C8B-B14F-4D97-AF65-F5344CB8AC3E}">
        <p14:creationId xmlns:p14="http://schemas.microsoft.com/office/powerpoint/2010/main" val="168501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9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Dark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Confidential_Dark_2023" id="{463E695A-4BAE-424E-B680-2F75D0DFEED5}" vid="{CA3363DD-9A8F-2D42-A824-14548664B07C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Dark</Template>
  <TotalTime>23508</TotalTime>
  <Words>1459</Words>
  <Application>Microsoft Macintosh PowerPoint</Application>
  <PresentationFormat>와이드스크린</PresentationFormat>
  <Paragraphs>387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Arial</vt:lpstr>
      <vt:lpstr>NanumSquareOTF Bold</vt:lpstr>
      <vt:lpstr>Amazon Ember</vt:lpstr>
      <vt:lpstr>NanumSquareOTF ExtraBold</vt:lpstr>
      <vt:lpstr>Lucida Console</vt:lpstr>
      <vt:lpstr>Wingdings</vt:lpstr>
      <vt:lpstr>D2Coding</vt:lpstr>
      <vt:lpstr>Amazon Ember Heavy</vt:lpstr>
      <vt:lpstr>NanumSquareOTF</vt:lpstr>
      <vt:lpstr>AWS Confidential Dark</vt:lpstr>
      <vt:lpstr>SaaS 전송비용 절감을 위한 아키텍쳐 Version : 1.0 / Update : Oct. 2023</vt:lpstr>
      <vt:lpstr>SaaS 기반의 데이터 전송 비용</vt:lpstr>
      <vt:lpstr>SaaS 전송 비용 절감을 위한 VPC Endpoint 디자인 구성 순서</vt:lpstr>
      <vt:lpstr>SaaS VPC 비용 절감을 위한 아키텍쳐 – TGW 기반 구성</vt:lpstr>
      <vt:lpstr>SaaS VPC 비용 절감을 위한 아키텍쳐 – VPC Peering 기반 구성</vt:lpstr>
      <vt:lpstr>1. VPC Endpoint Service 생성</vt:lpstr>
      <vt:lpstr>1. VPC Endpoint Service 생성</vt:lpstr>
      <vt:lpstr>2. VPC Endpoint 생성 </vt:lpstr>
      <vt:lpstr>2.VPC Endpoint 생성</vt:lpstr>
      <vt:lpstr>2.VPC Endpoint 생성</vt:lpstr>
      <vt:lpstr>3.TGW Peering 구성</vt:lpstr>
      <vt:lpstr>3.Cross AZ VPC Peering 구성</vt:lpstr>
      <vt:lpstr>4.Private Host Zone 구성 (Owner) </vt:lpstr>
      <vt:lpstr>4.Private Host Zone 구성 (Owner) </vt:lpstr>
      <vt:lpstr>4.Private Host Zone 구성 (Owner) </vt:lpstr>
      <vt:lpstr>4.Private Host Zone 구성 (Owner) </vt:lpstr>
      <vt:lpstr>5.Private Host Zone 구성 (Guest) </vt:lpstr>
      <vt:lpstr>5.Private Host Zone 구성 (Guest) </vt:lpstr>
      <vt:lpstr>5.Private Host Zone 구성 (Guest) </vt:lpstr>
      <vt:lpstr>5.Private Host Zone 구성 (Guest)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Microsoft Office User</cp:lastModifiedBy>
  <cp:revision>50</cp:revision>
  <dcterms:created xsi:type="dcterms:W3CDTF">2023-04-19T15:38:35Z</dcterms:created>
  <dcterms:modified xsi:type="dcterms:W3CDTF">2023-10-15T15:27:51Z</dcterms:modified>
</cp:coreProperties>
</file>